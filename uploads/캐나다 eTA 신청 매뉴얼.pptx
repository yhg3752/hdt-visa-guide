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8"/>
  </p:notesMasterIdLst>
  <p:sldIdLst>
    <p:sldId id="320" r:id="rId2"/>
    <p:sldId id="347" r:id="rId3"/>
    <p:sldId id="366" r:id="rId4"/>
    <p:sldId id="367" r:id="rId5"/>
    <p:sldId id="368" r:id="rId6"/>
    <p:sldId id="369" r:id="rId7"/>
    <p:sldId id="370" r:id="rId8"/>
    <p:sldId id="373" r:id="rId9"/>
    <p:sldId id="379" r:id="rId10"/>
    <p:sldId id="380" r:id="rId11"/>
    <p:sldId id="375" r:id="rId12"/>
    <p:sldId id="378" r:id="rId13"/>
    <p:sldId id="381" r:id="rId14"/>
    <p:sldId id="377" r:id="rId15"/>
    <p:sldId id="383" r:id="rId16"/>
    <p:sldId id="384" r:id="rId17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2" autoAdjust="0"/>
    <p:restoredTop sz="94660"/>
  </p:normalViewPr>
  <p:slideViewPr>
    <p:cSldViewPr snapToGrid="0">
      <p:cViewPr>
        <p:scale>
          <a:sx n="95" d="100"/>
          <a:sy n="95" d="100"/>
        </p:scale>
        <p:origin x="214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7054078-022E-4BF7-B38D-D40A2CAA849A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95D84F1-BD7E-4A7F-A854-A73387829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55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01725" y="1431925"/>
            <a:ext cx="5154613" cy="38671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1836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020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25DD-7935-7938-A912-A6F1CCE9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9890CD-E88C-A636-9C3B-7BAAE9F3F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6415FE-FF21-9492-7B39-2E40F8B5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67513-1592-8061-868C-29161CEDB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767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AA1D-7211-FF18-7F1A-1E9B66A4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BE7ABA-E460-F8D8-BF21-F1DDFC048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23A5B9-ED61-AADF-9EBC-9D339EA1C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F85DA-689D-9C5D-BF41-C6A2B35E6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167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CB49-1622-BE43-636E-C80D5EE5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04D34D-C2A0-84A5-FC3E-2B0EE4067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883B4-38FA-9ADB-1D6B-642335501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80638-F66F-7F9A-7C0D-DCE2EDC30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57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4714-3620-4AAE-C99E-128F5D8E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F6E69D-2E5C-02D8-4300-C5B9CCC13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E5B990-9386-0181-836C-673A034B1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262AC0-85A0-0019-492F-06DF5EE1A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968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B71E-78AB-6227-021E-47E0B734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97FEE7-C2A1-6C17-EFD5-E6F2B1B5D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C89F0F-414B-549E-B4B0-F4FC9BC65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54D7F-9C65-7B66-4FE1-FCD8F487B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76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7885-E8C6-0C36-9C9D-F4BD8414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120D7-2A06-659B-A6D0-11B01D64A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BD34B-E4C5-273D-1342-1860FCF9B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1AF69-40F6-7895-5EDB-F2BF6D1E6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527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ABF7-2D7F-9479-5A99-0ED69E83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88090-2687-E1EF-D538-EE1FF2F44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14B4C-757E-11D0-4975-4BC6968D3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F5723-B7E1-DA80-D6C9-22ADA6C1E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605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4A53-2814-B0BD-726E-FEBDAC12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479751-1EB0-65CA-84B8-0C0736775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D50346-09F9-3E79-A4F6-89C8AAA9F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4991E-4381-3C5F-455E-5E27DB976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15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66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286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19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16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87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38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22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4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67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33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31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34867" y="1916832"/>
            <a:ext cx="8043496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80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650954" y="5378179"/>
            <a:ext cx="1323469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2023.03.01</a:t>
            </a:r>
            <a:endParaRPr lang="ko-KR" altLang="en-US" dirty="0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659863" y="5718854"/>
            <a:ext cx="1631423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354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354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OO</a:t>
            </a:r>
            <a:r>
              <a:rPr lang="ko-KR" altLang="en-US" dirty="0"/>
              <a:t>부문 </a:t>
            </a:r>
            <a:r>
              <a:rPr lang="en-US" altLang="ko-KR" dirty="0"/>
              <a:t>OO</a:t>
            </a:r>
            <a:r>
              <a:rPr lang="ko-KR" altLang="en-US" dirty="0"/>
              <a:t>팀</a:t>
            </a:r>
          </a:p>
          <a:p>
            <a:pPr marL="0" marR="0" lvl="0" indent="0" algn="l" defTabSz="914354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659862" y="6087580"/>
            <a:ext cx="1785137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17396" y="1386116"/>
            <a:ext cx="49187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28</a:t>
            </a:r>
            <a:endParaRPr lang="ko-KR" altLang="en-US" dirty="0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17396" y="1916833"/>
            <a:ext cx="49187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소제목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M 24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6F9ACA-4906-90D2-F90B-20B49727E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159" y="359628"/>
            <a:ext cx="2136829" cy="6001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DAE407-182F-6BA3-6F92-E057DE2D6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 b="-13221"/>
          <a:stretch>
            <a:fillRect/>
          </a:stretch>
        </p:blipFill>
        <p:spPr>
          <a:xfrm>
            <a:off x="-11577" y="6498382"/>
            <a:ext cx="9155579" cy="1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14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83227" y="2060575"/>
            <a:ext cx="8176847" cy="3240088"/>
          </a:xfrm>
          <a:prstGeom prst="rect">
            <a:avLst/>
          </a:prstGeom>
        </p:spPr>
        <p:txBody>
          <a:bodyPr/>
          <a:lstStyle>
            <a:lvl1pPr marL="342882" indent="-342882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39973" indent="-215989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317993" y="188650"/>
            <a:ext cx="3981403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목 차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51526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E5B75-9477-48CD-B704-BBB060AC995C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8A439-DC28-4D06-883D-DEE2FDC2236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AA710C03-A9CA-6476-D8B9-C1734A725149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16194" y="681036"/>
            <a:ext cx="8511611" cy="1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513FC-BBD1-E3BA-62F5-EE7116E0C50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121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  <p:extLst>
      <p:ext uri="{BB962C8B-B14F-4D97-AF65-F5344CB8AC3E}">
        <p14:creationId xmlns:p14="http://schemas.microsoft.com/office/powerpoint/2010/main" val="39800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ada.ca/en/immigration-refugees-citizenship/services/visit-canada/eta/apply-ko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4">
            <a:extLst>
              <a:ext uri="{FF2B5EF4-FFF2-40B4-BE49-F238E27FC236}">
                <a16:creationId xmlns:a16="http://schemas.microsoft.com/office/drawing/2014/main" id="{4B5C70A1-D4FE-D6E8-42CA-D7B514A1D249}"/>
              </a:ext>
            </a:extLst>
          </p:cNvPr>
          <p:cNvSpPr txBox="1">
            <a:spLocks/>
          </p:cNvSpPr>
          <p:nvPr/>
        </p:nvSpPr>
        <p:spPr>
          <a:xfrm>
            <a:off x="7775848" y="6611779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spcBef>
                <a:spcPct val="0"/>
              </a:spcBef>
              <a:defRPr/>
            </a:pPr>
            <a:r>
              <a:rPr kumimoji="0" lang="en-US" altLang="ko-KR" sz="1000" dirty="0">
                <a:ln>
                  <a:noFill/>
                </a:ln>
                <a:solidFill>
                  <a:prstClr val="black"/>
                </a:solidFill>
              </a:rPr>
              <a:t>2026.05.21 </a:t>
            </a:r>
            <a:r>
              <a:rPr kumimoji="0" lang="ko-KR" altLang="en-US" sz="1000" dirty="0">
                <a:ln>
                  <a:noFill/>
                </a:ln>
                <a:solidFill>
                  <a:prstClr val="black"/>
                </a:solidFill>
              </a:rPr>
              <a:t>업데이트</a:t>
            </a:r>
            <a:endParaRPr kumimoji="0" lang="en-US" altLang="ko-KR" sz="1000" dirty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3F848862-D730-B3CA-D325-6FE0141657D8}"/>
              </a:ext>
            </a:extLst>
          </p:cNvPr>
          <p:cNvSpPr txBox="1">
            <a:spLocks/>
          </p:cNvSpPr>
          <p:nvPr/>
        </p:nvSpPr>
        <p:spPr>
          <a:xfrm>
            <a:off x="503548" y="1392947"/>
            <a:ext cx="8424936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캐나다 </a:t>
            </a:r>
            <a:r>
              <a:rPr lang="en-US" altLang="ko-KR" b="1" dirty="0" err="1"/>
              <a:t>eTA</a:t>
            </a:r>
            <a:r>
              <a:rPr lang="en-US" altLang="ko-KR" b="1" dirty="0"/>
              <a:t> </a:t>
            </a:r>
            <a:r>
              <a:rPr lang="ko-KR" altLang="en-US" b="1" dirty="0"/>
              <a:t>신청 매뉴얼</a:t>
            </a: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id="{FE5FC1E4-A6ED-DB68-D090-219C41329996}"/>
              </a:ext>
            </a:extLst>
          </p:cNvPr>
          <p:cNvSpPr txBox="1">
            <a:spLocks/>
          </p:cNvSpPr>
          <p:nvPr/>
        </p:nvSpPr>
        <p:spPr>
          <a:xfrm>
            <a:off x="503548" y="1973766"/>
            <a:ext cx="8424936" cy="3416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800" b="0" dirty="0"/>
              <a:t>Canada </a:t>
            </a:r>
            <a:r>
              <a:rPr lang="en-US" altLang="ko-KR" sz="1800" b="0" dirty="0" err="1"/>
              <a:t>eTA</a:t>
            </a:r>
            <a:r>
              <a:rPr lang="en-US" altLang="ko-KR" sz="1800" b="0" dirty="0"/>
              <a:t> Manual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ACA4C-35B2-AC28-11DA-18E3C8DDB10F}"/>
              </a:ext>
            </a:extLst>
          </p:cNvPr>
          <p:cNvSpPr txBox="1"/>
          <p:nvPr/>
        </p:nvSpPr>
        <p:spPr>
          <a:xfrm>
            <a:off x="503548" y="2505670"/>
            <a:ext cx="59920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https://www.canada.ca/en/immigration-refugees-citizenship/services/visit-canada/eta/apply-ko.html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90F9-33F2-5707-894C-AA2985B2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4C7535D-C6D5-423E-301A-D31F2862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4" y="803453"/>
            <a:ext cx="8123331" cy="5508697"/>
          </a:xfrm>
          <a:prstGeom prst="rect">
            <a:avLst/>
          </a:prstGeom>
        </p:spPr>
      </p:pic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D9CD1BA-13A1-4FEA-2C4B-F994F2FAEE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 dirty="0" err="1">
                <a:latin typeface="+mj-ea"/>
                <a:ea typeface="+mj-ea"/>
                <a:cs typeface="Malgun Gothic Semilight" panose="020B0502040204020203" pitchFamily="50" charset="-127"/>
              </a:rPr>
              <a:t>eTA</a:t>
            </a:r>
            <a:r>
              <a:rPr lang="en-US" altLang="ko-KR" sz="1800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010360-6BB0-54F7-C2CF-197CD0DD57C0}"/>
              </a:ext>
            </a:extLst>
          </p:cNvPr>
          <p:cNvSpPr/>
          <p:nvPr/>
        </p:nvSpPr>
        <p:spPr bwMode="auto">
          <a:xfrm>
            <a:off x="426414" y="5913642"/>
            <a:ext cx="987716" cy="3985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824960-50E8-80F4-6EB0-BAEA034064DA}"/>
              </a:ext>
            </a:extLst>
          </p:cNvPr>
          <p:cNvSpPr/>
          <p:nvPr/>
        </p:nvSpPr>
        <p:spPr bwMode="auto">
          <a:xfrm>
            <a:off x="405147" y="803449"/>
            <a:ext cx="4772908" cy="27159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885EB-3898-16CB-BDAE-5AECE533A78D}"/>
              </a:ext>
            </a:extLst>
          </p:cNvPr>
          <p:cNvSpPr txBox="1"/>
          <p:nvPr/>
        </p:nvSpPr>
        <p:spPr>
          <a:xfrm>
            <a:off x="1414131" y="6054551"/>
            <a:ext cx="40082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▶캐나다 </a:t>
            </a:r>
            <a:r>
              <a:rPr lang="en-US" altLang="ko-KR" sz="1300" b="1" dirty="0" err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eTA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사이트 접속 후 신청 버튼 클릭</a:t>
            </a:r>
          </a:p>
        </p:txBody>
      </p:sp>
    </p:spTree>
    <p:extLst>
      <p:ext uri="{BB962C8B-B14F-4D97-AF65-F5344CB8AC3E}">
        <p14:creationId xmlns:p14="http://schemas.microsoft.com/office/powerpoint/2010/main" val="42680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7271-0787-AE2E-2CF0-BA595F28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25DF484-8E32-4109-6BF6-8124DFF52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 dirty="0" err="1">
                <a:latin typeface="+mj-ea"/>
                <a:ea typeface="+mj-ea"/>
                <a:cs typeface="Malgun Gothic Semilight" panose="020B0502040204020203" pitchFamily="50" charset="-127"/>
              </a:rPr>
              <a:t>eTA</a:t>
            </a:r>
            <a:r>
              <a:rPr lang="en-US" altLang="ko-KR" sz="1800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E3EE4A-A069-8DC5-B7D0-6357E6CA2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"/>
          <a:stretch>
            <a:fillRect/>
          </a:stretch>
        </p:blipFill>
        <p:spPr>
          <a:xfrm>
            <a:off x="427718" y="861240"/>
            <a:ext cx="5037419" cy="56195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F0C0EFD-3176-E2CC-2778-75D6CF14C8C5}"/>
              </a:ext>
            </a:extLst>
          </p:cNvPr>
          <p:cNvSpPr/>
          <p:nvPr/>
        </p:nvSpPr>
        <p:spPr bwMode="auto">
          <a:xfrm>
            <a:off x="437243" y="6257928"/>
            <a:ext cx="1010559" cy="2419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B22D0-9E4D-7F4A-AEC6-56A2AE051C2A}"/>
              </a:ext>
            </a:extLst>
          </p:cNvPr>
          <p:cNvSpPr txBox="1"/>
          <p:nvPr/>
        </p:nvSpPr>
        <p:spPr>
          <a:xfrm>
            <a:off x="1457323" y="6257926"/>
            <a:ext cx="36850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▶중요 공지사항 확인 후 하단의 버튼 클릭</a:t>
            </a:r>
          </a:p>
        </p:txBody>
      </p:sp>
    </p:spTree>
    <p:extLst>
      <p:ext uri="{BB962C8B-B14F-4D97-AF65-F5344CB8AC3E}">
        <p14:creationId xmlns:p14="http://schemas.microsoft.com/office/powerpoint/2010/main" val="400021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76A1-7E19-4707-2CDF-99395C7C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5C2528A-3F94-C00A-CC57-D54692237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 dirty="0" err="1">
                <a:latin typeface="+mj-ea"/>
                <a:ea typeface="+mj-ea"/>
                <a:cs typeface="Malgun Gothic Semilight" panose="020B0502040204020203" pitchFamily="50" charset="-127"/>
              </a:rPr>
              <a:t>eTA</a:t>
            </a:r>
            <a:r>
              <a:rPr lang="en-US" altLang="ko-KR" sz="1800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7E1DB1-2F28-278A-6C72-BB9995C28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1" y="928906"/>
            <a:ext cx="4230024" cy="2740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0D926B-74A6-77C8-AB80-823789B31593}"/>
              </a:ext>
            </a:extLst>
          </p:cNvPr>
          <p:cNvSpPr txBox="1"/>
          <p:nvPr/>
        </p:nvSpPr>
        <p:spPr>
          <a:xfrm>
            <a:off x="3853052" y="1877950"/>
            <a:ext cx="37894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▶한국 여권이라면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“Another country”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BEFB9F-A962-4090-B20D-35378DD4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2" y="3593592"/>
            <a:ext cx="4759379" cy="2322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FD98BA-1F96-01C0-A5F3-707B244ED327}"/>
              </a:ext>
            </a:extLst>
          </p:cNvPr>
          <p:cNvSpPr txBox="1"/>
          <p:nvPr/>
        </p:nvSpPr>
        <p:spPr>
          <a:xfrm>
            <a:off x="2635499" y="3593592"/>
            <a:ext cx="37894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▶방문 목적에 맞게 선택 </a:t>
            </a:r>
          </a:p>
        </p:txBody>
      </p:sp>
    </p:spTree>
    <p:extLst>
      <p:ext uri="{BB962C8B-B14F-4D97-AF65-F5344CB8AC3E}">
        <p14:creationId xmlns:p14="http://schemas.microsoft.com/office/powerpoint/2010/main" val="297113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19B6-A105-CEB0-CFAD-D2176F7E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7AA3B0E-7B8A-688E-1E97-D4033B29C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 dirty="0" err="1">
                <a:latin typeface="+mj-ea"/>
                <a:ea typeface="+mj-ea"/>
                <a:cs typeface="Malgun Gothic Semilight" panose="020B0502040204020203" pitchFamily="50" charset="-127"/>
              </a:rPr>
              <a:t>eTA</a:t>
            </a:r>
            <a:r>
              <a:rPr lang="en-US" altLang="ko-KR" sz="1800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8F0828-79DB-34E3-E479-FB26AA34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3" y="734816"/>
            <a:ext cx="4755837" cy="4084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BEFDD7-B89D-7871-96D3-3B7CEC96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2" y="4818891"/>
            <a:ext cx="4901571" cy="184514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481767-2DF9-3616-7355-FE20B3AAAE11}"/>
              </a:ext>
            </a:extLst>
          </p:cNvPr>
          <p:cNvSpPr/>
          <p:nvPr/>
        </p:nvSpPr>
        <p:spPr bwMode="auto">
          <a:xfrm>
            <a:off x="339680" y="6396351"/>
            <a:ext cx="1050208" cy="280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8C455-744F-9829-D65E-86AC17D59AD5}"/>
              </a:ext>
            </a:extLst>
          </p:cNvPr>
          <p:cNvSpPr txBox="1"/>
          <p:nvPr/>
        </p:nvSpPr>
        <p:spPr>
          <a:xfrm>
            <a:off x="1371602" y="6396349"/>
            <a:ext cx="37894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 정보 안내 확인 후 계속 진행</a:t>
            </a:r>
          </a:p>
        </p:txBody>
      </p:sp>
    </p:spTree>
    <p:extLst>
      <p:ext uri="{BB962C8B-B14F-4D97-AF65-F5344CB8AC3E}">
        <p14:creationId xmlns:p14="http://schemas.microsoft.com/office/powerpoint/2010/main" val="118060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F5A5-ED00-0D99-7BA6-53719BB3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73BE63F-BC91-CED8-3CE1-7D1DCF139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 dirty="0" err="1">
                <a:latin typeface="+mj-ea"/>
                <a:ea typeface="+mj-ea"/>
                <a:cs typeface="Malgun Gothic Semilight" panose="020B0502040204020203" pitchFamily="50" charset="-127"/>
              </a:rPr>
              <a:t>eTA</a:t>
            </a:r>
            <a:r>
              <a:rPr lang="en-US" altLang="ko-KR" sz="1800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600AF9-E4F8-EF60-3AB1-1E115661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21" b="15227"/>
          <a:stretch>
            <a:fillRect/>
          </a:stretch>
        </p:blipFill>
        <p:spPr>
          <a:xfrm>
            <a:off x="321393" y="822960"/>
            <a:ext cx="8572093" cy="1426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3015E2-7DE4-5402-8CFC-6C2E661B64E8}"/>
              </a:ext>
            </a:extLst>
          </p:cNvPr>
          <p:cNvSpPr txBox="1"/>
          <p:nvPr/>
        </p:nvSpPr>
        <p:spPr>
          <a:xfrm>
            <a:off x="5652225" y="1908529"/>
            <a:ext cx="261358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본인 직접 신청 시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“NO”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선택◀﻿﻿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2926F4C-3CE6-D293-4D99-5ED5AE0A3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17" y="2255405"/>
            <a:ext cx="8629760" cy="38893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400D4B-87D6-6586-BEE5-66879774F323}"/>
              </a:ext>
            </a:extLst>
          </p:cNvPr>
          <p:cNvSpPr txBox="1"/>
          <p:nvPr/>
        </p:nvSpPr>
        <p:spPr>
          <a:xfrm>
            <a:off x="1346808" y="3971597"/>
            <a:ext cx="350561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▶일반 여권일 경우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ordinary/regular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FFD5B-D9B0-F1C6-B1E7-C0A024B0EC7D}"/>
              </a:ext>
            </a:extLst>
          </p:cNvPr>
          <p:cNvSpPr txBox="1"/>
          <p:nvPr/>
        </p:nvSpPr>
        <p:spPr>
          <a:xfrm>
            <a:off x="1346808" y="4884557"/>
            <a:ext cx="41761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▶여권발급 국가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한국일 경우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KOR (Korea, South)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5BA48-26CE-C1B3-8685-DC8ACAF06561}"/>
              </a:ext>
            </a:extLst>
          </p:cNvPr>
          <p:cNvSpPr txBox="1"/>
          <p:nvPr/>
        </p:nvSpPr>
        <p:spPr>
          <a:xfrm>
            <a:off x="1346806" y="5797517"/>
            <a:ext cx="41761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 표시 국적 한국일 경우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Korea, South</a:t>
            </a:r>
          </a:p>
        </p:txBody>
      </p:sp>
    </p:spTree>
    <p:extLst>
      <p:ext uri="{BB962C8B-B14F-4D97-AF65-F5344CB8AC3E}">
        <p14:creationId xmlns:p14="http://schemas.microsoft.com/office/powerpoint/2010/main" val="194838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C5E6-D7B7-C67F-0C3F-98731018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201A4BB-AD34-21EB-D6DE-3193B4305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187339-040D-758D-6E13-D78C7ED32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2" y="734813"/>
            <a:ext cx="7516275" cy="5839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5ACCE-4C5B-F331-494D-1299A477DD93}"/>
              </a:ext>
            </a:extLst>
          </p:cNvPr>
          <p:cNvSpPr txBox="1"/>
          <p:nvPr/>
        </p:nvSpPr>
        <p:spPr>
          <a:xfrm>
            <a:off x="423264" y="1777037"/>
            <a:ext cx="53557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 번호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여권 정보와 정확히 일치하게 입력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B99C8-BFD8-1F97-6584-70E1A5156944}"/>
              </a:ext>
            </a:extLst>
          </p:cNvPr>
          <p:cNvSpPr txBox="1"/>
          <p:nvPr/>
        </p:nvSpPr>
        <p:spPr>
          <a:xfrm>
            <a:off x="423264" y="2768091"/>
            <a:ext cx="53557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 번호 재입력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64ECC-24B4-B4E9-76E3-142A86582556}"/>
              </a:ext>
            </a:extLst>
          </p:cNvPr>
          <p:cNvSpPr txBox="1"/>
          <p:nvPr/>
        </p:nvSpPr>
        <p:spPr>
          <a:xfrm>
            <a:off x="423262" y="3806665"/>
            <a:ext cx="53557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▶영문 성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A2BAC-D14C-E8A5-F397-327E13C7528A}"/>
              </a:ext>
            </a:extLst>
          </p:cNvPr>
          <p:cNvSpPr txBox="1"/>
          <p:nvPr/>
        </p:nvSpPr>
        <p:spPr>
          <a:xfrm>
            <a:off x="423262" y="4788577"/>
            <a:ext cx="53557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▶영문 이름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 err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영문성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제외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CDB46-1DB6-1BD4-D3C0-2EB857BBFDB8}"/>
              </a:ext>
            </a:extLst>
          </p:cNvPr>
          <p:cNvSpPr txBox="1"/>
          <p:nvPr/>
        </p:nvSpPr>
        <p:spPr>
          <a:xfrm>
            <a:off x="7589112" y="5470462"/>
            <a:ext cx="10702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▶생년월일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AFBB1-A672-CEAF-0C04-4C2E05A7411B}"/>
              </a:ext>
            </a:extLst>
          </p:cNvPr>
          <p:cNvSpPr txBox="1"/>
          <p:nvPr/>
        </p:nvSpPr>
        <p:spPr>
          <a:xfrm>
            <a:off x="7761497" y="6204636"/>
            <a:ext cx="10702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▶성별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600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77CE5-AF98-2B38-A547-5E2873ED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39F2E0B9-74B6-C9E9-59C5-DBCD46CFDB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13392-509E-6565-9715-91AD17200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4" y="834351"/>
            <a:ext cx="7611537" cy="3305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09A3EC-57B6-86BD-DD4D-F73D4D794EFE}"/>
              </a:ext>
            </a:extLst>
          </p:cNvPr>
          <p:cNvSpPr txBox="1"/>
          <p:nvPr/>
        </p:nvSpPr>
        <p:spPr>
          <a:xfrm>
            <a:off x="441550" y="1140122"/>
            <a:ext cx="11586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▶출생 국가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296B0-ECA2-F6C7-0124-6C4E596A04BC}"/>
              </a:ext>
            </a:extLst>
          </p:cNvPr>
          <p:cNvSpPr txBox="1"/>
          <p:nvPr/>
        </p:nvSpPr>
        <p:spPr>
          <a:xfrm>
            <a:off x="441549" y="2106338"/>
            <a:ext cx="115865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▶출생 도시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8EBC8-36A6-9833-5C05-0B442B45735F}"/>
              </a:ext>
            </a:extLst>
          </p:cNvPr>
          <p:cNvSpPr txBox="1"/>
          <p:nvPr/>
        </p:nvSpPr>
        <p:spPr>
          <a:xfrm>
            <a:off x="3227421" y="2551346"/>
            <a:ext cx="13445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▶여권발급일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EA8B1-CBAF-B664-FF73-556C8991B101}"/>
              </a:ext>
            </a:extLst>
          </p:cNvPr>
          <p:cNvSpPr txBox="1"/>
          <p:nvPr/>
        </p:nvSpPr>
        <p:spPr>
          <a:xfrm>
            <a:off x="3227421" y="3429001"/>
            <a:ext cx="13445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▶여권만료일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F5F76A-3907-FD19-B0E9-D85EEB5B07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780"/>
          <a:stretch>
            <a:fillRect/>
          </a:stretch>
        </p:blipFill>
        <p:spPr>
          <a:xfrm>
            <a:off x="321392" y="4445757"/>
            <a:ext cx="8583483" cy="1883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1145C4-FD15-37FC-2559-7CB60A82449E}"/>
              </a:ext>
            </a:extLst>
          </p:cNvPr>
          <p:cNvSpPr txBox="1"/>
          <p:nvPr/>
        </p:nvSpPr>
        <p:spPr>
          <a:xfrm>
            <a:off x="1818830" y="4754738"/>
            <a:ext cx="36858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▶한국 외 다른 국적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시민권이 있을 경우 기입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72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1E37-0212-D4E3-56A3-EA4BB132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E5B7C714-E0FC-1716-B133-4D7A672A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26" y="758416"/>
            <a:ext cx="7728243" cy="673461"/>
          </a:xfrm>
          <a:prstGeom prst="rect">
            <a:avLst/>
          </a:prstGeom>
        </p:spPr>
      </p:pic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EB4F459-AB21-D560-22C1-1FED06B1C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40FF7C-EE12-E32F-CEB9-59B47FF9C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871"/>
          <a:stretch>
            <a:fillRect/>
          </a:stretch>
        </p:blipFill>
        <p:spPr>
          <a:xfrm>
            <a:off x="277618" y="1450063"/>
            <a:ext cx="8068801" cy="2239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6D1365-B904-0750-E675-865C56886F4B}"/>
              </a:ext>
            </a:extLst>
          </p:cNvPr>
          <p:cNvSpPr txBox="1"/>
          <p:nvPr/>
        </p:nvSpPr>
        <p:spPr>
          <a:xfrm>
            <a:off x="421745" y="1757754"/>
            <a:ext cx="35973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▶한국 외 다른 국적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시민권이 있을 경우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EAA74-1DA8-F743-18CE-380D74AA35DA}"/>
              </a:ext>
            </a:extLst>
          </p:cNvPr>
          <p:cNvSpPr txBox="1"/>
          <p:nvPr/>
        </p:nvSpPr>
        <p:spPr>
          <a:xfrm>
            <a:off x="421742" y="2551713"/>
            <a:ext cx="77549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Yes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일 경우 비자 번호 기입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비자 번호 모르실 경우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NA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로 작성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728FD1-BFB4-79E6-0366-561AADF0F121}"/>
              </a:ext>
            </a:extLst>
          </p:cNvPr>
          <p:cNvSpPr txBox="1"/>
          <p:nvPr/>
        </p:nvSpPr>
        <p:spPr>
          <a:xfrm>
            <a:off x="434547" y="1099355"/>
            <a:ext cx="36802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▶결혼 여부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42D19C-FA1E-F960-0998-A5B33A9E3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26" y="3633258"/>
            <a:ext cx="7642395" cy="304837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F6D4F1-5FCF-70B9-96D9-D03B73966D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68" y="4004281"/>
            <a:ext cx="7536069" cy="9487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95CEB0-DE93-5191-B21E-42B162D541BD}"/>
              </a:ext>
            </a:extLst>
          </p:cNvPr>
          <p:cNvSpPr txBox="1"/>
          <p:nvPr/>
        </p:nvSpPr>
        <p:spPr>
          <a:xfrm>
            <a:off x="446761" y="4625272"/>
            <a:ext cx="108591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▶직업 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CC9563-BB2A-3B1E-CEE8-43964A81494F}"/>
              </a:ext>
            </a:extLst>
          </p:cNvPr>
          <p:cNvSpPr txBox="1"/>
          <p:nvPr/>
        </p:nvSpPr>
        <p:spPr>
          <a:xfrm>
            <a:off x="434549" y="5621209"/>
            <a:ext cx="20534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▶적합한 직종 옵션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8989D-2217-F96F-7CC2-785E3A67D457}"/>
              </a:ext>
            </a:extLst>
          </p:cNvPr>
          <p:cNvSpPr txBox="1"/>
          <p:nvPr/>
        </p:nvSpPr>
        <p:spPr>
          <a:xfrm>
            <a:off x="434549" y="6310657"/>
            <a:ext cx="20534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▶재직 회사명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019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A124-ECCE-89F2-EFA6-4E4FC6127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F16A630-5E05-6683-7803-4B675C27A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E14067-8198-89C7-9E97-D95BF89FF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5" y="809946"/>
            <a:ext cx="7818399" cy="2039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2AA90F-9E22-F79A-F7BB-286A74FA1695}"/>
              </a:ext>
            </a:extLst>
          </p:cNvPr>
          <p:cNvSpPr txBox="1"/>
          <p:nvPr/>
        </p:nvSpPr>
        <p:spPr>
          <a:xfrm>
            <a:off x="434547" y="1099355"/>
            <a:ext cx="36802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▶재직 회사의 국가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87DDC-0342-5032-A765-E17A4BED706E}"/>
              </a:ext>
            </a:extLst>
          </p:cNvPr>
          <p:cNvSpPr txBox="1"/>
          <p:nvPr/>
        </p:nvSpPr>
        <p:spPr>
          <a:xfrm>
            <a:off x="423916" y="1851001"/>
            <a:ext cx="22448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▶재직 회사의 도시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8A30C-60A0-AF1C-2B83-59BB6C4CFCAA}"/>
              </a:ext>
            </a:extLst>
          </p:cNvPr>
          <p:cNvSpPr txBox="1"/>
          <p:nvPr/>
        </p:nvSpPr>
        <p:spPr>
          <a:xfrm>
            <a:off x="445180" y="2535872"/>
            <a:ext cx="36802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▶몇 년부터 재직했는지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0EBF19-883D-54AA-FC2F-A09A478D21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529"/>
          <a:stretch>
            <a:fillRect/>
          </a:stretch>
        </p:blipFill>
        <p:spPr>
          <a:xfrm>
            <a:off x="277620" y="3000113"/>
            <a:ext cx="8248583" cy="31774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1D86DD-B841-FB21-17BA-A66246B69C4F}"/>
              </a:ext>
            </a:extLst>
          </p:cNvPr>
          <p:cNvSpPr txBox="1"/>
          <p:nvPr/>
        </p:nvSpPr>
        <p:spPr>
          <a:xfrm>
            <a:off x="447351" y="3723123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▶영어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프랑스어 중 어떤 언어를 선호하는지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2BD52-117B-7BE2-77E4-C721CB648154}"/>
              </a:ext>
            </a:extLst>
          </p:cNvPr>
          <p:cNvSpPr txBox="1"/>
          <p:nvPr/>
        </p:nvSpPr>
        <p:spPr>
          <a:xfrm>
            <a:off x="434546" y="4762917"/>
            <a:ext cx="48288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▶이메일 주소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아래 질문에도 이메일 주소 동일하게 기입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005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8AB8C-81B7-CBAF-C2DE-76A3B8AF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305CCD4-080F-1286-95F8-1E307C7AB7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681AA9-1220-ED86-21B3-9264BB6A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1" y="868614"/>
            <a:ext cx="7506748" cy="5687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6B56E-D665-C07E-02F3-8CFA3512F39A}"/>
              </a:ext>
            </a:extLst>
          </p:cNvPr>
          <p:cNvSpPr txBox="1"/>
          <p:nvPr/>
        </p:nvSpPr>
        <p:spPr>
          <a:xfrm>
            <a:off x="405171" y="1904359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▶아파트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호수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3CF09-7658-7FD5-1455-DD7D793431DC}"/>
              </a:ext>
            </a:extLst>
          </p:cNvPr>
          <p:cNvSpPr txBox="1"/>
          <p:nvPr/>
        </p:nvSpPr>
        <p:spPr>
          <a:xfrm>
            <a:off x="405171" y="2621965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▶거주지명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DFD81-D2FA-C945-4249-9ADB29191279}"/>
              </a:ext>
            </a:extLst>
          </p:cNvPr>
          <p:cNvSpPr txBox="1"/>
          <p:nvPr/>
        </p:nvSpPr>
        <p:spPr>
          <a:xfrm>
            <a:off x="405171" y="4765824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▶도시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읍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면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6B2AA-2C84-7AA5-A736-08D967322392}"/>
              </a:ext>
            </a:extLst>
          </p:cNvPr>
          <p:cNvSpPr txBox="1"/>
          <p:nvPr/>
        </p:nvSpPr>
        <p:spPr>
          <a:xfrm>
            <a:off x="415804" y="5481140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▶국가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지역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AD7DE-A11E-FA69-009D-C0AF7013DDD1}"/>
              </a:ext>
            </a:extLst>
          </p:cNvPr>
          <p:cNvSpPr txBox="1"/>
          <p:nvPr/>
        </p:nvSpPr>
        <p:spPr>
          <a:xfrm>
            <a:off x="405171" y="3329031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▶도로명 주소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16E7C-D752-3752-0E0B-05560CBB610C}"/>
              </a:ext>
            </a:extLst>
          </p:cNvPr>
          <p:cNvSpPr txBox="1"/>
          <p:nvPr/>
        </p:nvSpPr>
        <p:spPr>
          <a:xfrm>
            <a:off x="2580027" y="910845"/>
            <a:ext cx="39839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▶거주지 정보 입력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43DD3DB-79D5-18EE-CBE0-CC19CF615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567" y="4030138"/>
            <a:ext cx="4564053" cy="25399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15E200-1C49-1308-BD4E-CC55B3F79493}"/>
              </a:ext>
            </a:extLst>
          </p:cNvPr>
          <p:cNvSpPr txBox="1"/>
          <p:nvPr/>
        </p:nvSpPr>
        <p:spPr>
          <a:xfrm>
            <a:off x="6885037" y="3728603"/>
            <a:ext cx="212180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latin typeface="+mn-ea"/>
              </a:rPr>
              <a:t>▼ 네이버 영문 주소 활용</a:t>
            </a:r>
            <a:endParaRPr lang="en-US" altLang="ko-KR" sz="13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227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9AAFD-EC39-F5AE-50A9-A3338E21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630CA49-B034-96E3-0611-D48365C7B6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C4ACB9-17D5-8318-34E0-015924841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1" y="812066"/>
            <a:ext cx="8392696" cy="32770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B57E18-6A49-7711-2172-2C330191C35D}"/>
              </a:ext>
            </a:extLst>
          </p:cNvPr>
          <p:cNvSpPr txBox="1"/>
          <p:nvPr/>
        </p:nvSpPr>
        <p:spPr>
          <a:xfrm>
            <a:off x="429913" y="1788670"/>
            <a:ext cx="3072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▶입국일을 알 경우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Yes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BBDE3-5554-9454-F478-2841B690FE3C}"/>
              </a:ext>
            </a:extLst>
          </p:cNvPr>
          <p:cNvSpPr txBox="1"/>
          <p:nvPr/>
        </p:nvSpPr>
        <p:spPr>
          <a:xfrm>
            <a:off x="3817696" y="2187637"/>
            <a:ext cx="24368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▶입국일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출발시간을 기입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5B1C1-78A2-DCDA-850A-32F0A0BABFAD}"/>
              </a:ext>
            </a:extLst>
          </p:cNvPr>
          <p:cNvSpPr txBox="1"/>
          <p:nvPr/>
        </p:nvSpPr>
        <p:spPr>
          <a:xfrm>
            <a:off x="2477984" y="870929"/>
            <a:ext cx="3072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▶여행 일자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051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8A9F-B036-9DBB-BCD4-C790D374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4BBAA54-36E9-5085-4A87-523209DCA2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D73FCA-8A3D-F2C5-51E1-B18DBC52F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12" y="840374"/>
            <a:ext cx="8640381" cy="4372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EA6134-B18F-DE37-68E7-5CEE18F08258}"/>
              </a:ext>
            </a:extLst>
          </p:cNvPr>
          <p:cNvSpPr txBox="1"/>
          <p:nvPr/>
        </p:nvSpPr>
        <p:spPr>
          <a:xfrm>
            <a:off x="2569424" y="840371"/>
            <a:ext cx="3072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▶질병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범죄 관련 질문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모두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NO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기입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B014F-1FF9-A655-816B-D84EFE02F22D}"/>
              </a:ext>
            </a:extLst>
          </p:cNvPr>
          <p:cNvSpPr txBox="1"/>
          <p:nvPr/>
        </p:nvSpPr>
        <p:spPr>
          <a:xfrm>
            <a:off x="335450" y="4191686"/>
            <a:ext cx="66501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▶신청서와 관련된 추가 정보가 있는 경우 간략하게 기재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예시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 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캐나다 여행이 시급한 경우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신청서 처리 지연 방지를 위해 관련 내용 기재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6078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1FE9-2C5A-6D82-E95D-DA5ACE83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1EDC598-D9F6-52B4-3F4B-6F100D97B1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7EC590-1328-3EE3-40D5-A1D1B207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02"/>
          <a:stretch>
            <a:fillRect/>
          </a:stretch>
        </p:blipFill>
        <p:spPr>
          <a:xfrm>
            <a:off x="321392" y="854971"/>
            <a:ext cx="8000407" cy="41650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3D288D-F4D1-D5C4-ACBD-0FB20390BD37}"/>
              </a:ext>
            </a:extLst>
          </p:cNvPr>
          <p:cNvSpPr txBox="1"/>
          <p:nvPr/>
        </p:nvSpPr>
        <p:spPr>
          <a:xfrm>
            <a:off x="397839" y="4336477"/>
            <a:ext cx="31640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▶여권에 표기된 이름과 동일하게 기재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BB3BBC-6D2F-1CBB-C9D5-9804085CAAC1}"/>
              </a:ext>
            </a:extLst>
          </p:cNvPr>
          <p:cNvSpPr txBox="1"/>
          <p:nvPr/>
        </p:nvSpPr>
        <p:spPr>
          <a:xfrm>
            <a:off x="925145" y="3519613"/>
            <a:ext cx="329598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▶개인정보 공지 확인 후 동의 선택</a:t>
            </a:r>
            <a:endParaRPr lang="en-US" altLang="ko-KR" sz="13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0EB0E1-518D-DF00-99D2-65DBBB2073D1}"/>
              </a:ext>
            </a:extLst>
          </p:cNvPr>
          <p:cNvSpPr/>
          <p:nvPr/>
        </p:nvSpPr>
        <p:spPr bwMode="auto">
          <a:xfrm>
            <a:off x="6848481" y="4628866"/>
            <a:ext cx="1413021" cy="3985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46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0779-AA7C-F291-1658-8E375A1F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E14854F-07F2-468E-64D3-A70C351A2D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1CA8B0-7FA9-19CF-9B93-056AE57DA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2" y="873899"/>
            <a:ext cx="8521451" cy="399071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39FE0D7-CE40-C429-B5D1-8C66AC177DD6}"/>
              </a:ext>
            </a:extLst>
          </p:cNvPr>
          <p:cNvSpPr/>
          <p:nvPr/>
        </p:nvSpPr>
        <p:spPr bwMode="auto">
          <a:xfrm>
            <a:off x="6254118" y="4363691"/>
            <a:ext cx="2487547" cy="482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5BEBC8-DEDF-2BE2-182F-B4E19E9AC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585" y="734816"/>
            <a:ext cx="943107" cy="4760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05B0DE-F1C8-F01D-AC0A-B0BF949D4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37" y="4067194"/>
            <a:ext cx="3653272" cy="25663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9CEEAF-F081-4D7B-628D-3996939B2586}"/>
              </a:ext>
            </a:extLst>
          </p:cNvPr>
          <p:cNvSpPr txBox="1"/>
          <p:nvPr/>
        </p:nvSpPr>
        <p:spPr>
          <a:xfrm>
            <a:off x="3845690" y="6231535"/>
            <a:ext cx="47454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▶카드 정보 입력 후 결제 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결제 </a:t>
            </a:r>
            <a:r>
              <a:rPr lang="ko-KR" altLang="en-US" sz="1300" b="1" dirty="0" err="1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승인창</a:t>
            </a:r>
            <a:r>
              <a:rPr lang="ko-KR" altLang="en-US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 캡쳐 또는 저장 필수</a:t>
            </a:r>
            <a:r>
              <a:rPr lang="en-US" altLang="ko-KR" sz="13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9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3670-6E54-5761-FE14-26783C7E2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C36BA68-5F63-1593-AE3E-2919B13750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4" y="302173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캐나다 </a:t>
            </a:r>
            <a:r>
              <a:rPr lang="en-US" altLang="ko-KR" sz="1800" b="1">
                <a:latin typeface="+mj-ea"/>
                <a:ea typeface="+mj-ea"/>
                <a:cs typeface="Malgun Gothic Semilight" panose="020B0502040204020203" pitchFamily="50" charset="-127"/>
              </a:rPr>
              <a:t>eTA </a:t>
            </a:r>
            <a:r>
              <a:rPr lang="ko-KR" altLang="en-US" sz="1800" b="1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+mj-ea"/>
              <a:ea typeface="+mj-ea"/>
              <a:cs typeface="Malgun Gothic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CE3A34-85F4-0744-7B46-D83E58769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585" y="734816"/>
            <a:ext cx="943107" cy="4760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B5BC678-5077-C32D-73FD-1DDF125AF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91" y="844071"/>
            <a:ext cx="8240440" cy="419672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C75510-675D-E7D5-4325-591F057E1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16" y="2192503"/>
            <a:ext cx="7449590" cy="457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9A14A5-B733-9032-65FB-48292CBF6B2C}"/>
              </a:ext>
            </a:extLst>
          </p:cNvPr>
          <p:cNvSpPr txBox="1"/>
          <p:nvPr/>
        </p:nvSpPr>
        <p:spPr>
          <a:xfrm>
            <a:off x="665403" y="2251858"/>
            <a:ext cx="7552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ysClr val="windowText" lastClr="000000"/>
                </a:solidFill>
                <a:highlight>
                  <a:srgbClr val="FFFF00"/>
                </a:highlight>
                <a:latin typeface="+mn-ea"/>
              </a:rPr>
              <a:t>▶결제완료 후 허가승인 메일이 도착하면 비자 신청 절차 완료</a:t>
            </a:r>
            <a:endParaRPr lang="en-US" altLang="ko-KR" sz="1600" b="1" dirty="0">
              <a:solidFill>
                <a:sysClr val="windowText" lastClr="00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749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424</Words>
  <Application>Microsoft Office PowerPoint</Application>
  <PresentationFormat>화면 슬라이드 쇼(4:3)</PresentationFormat>
  <Paragraphs>77</Paragraphs>
  <Slides>16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Malgun Gothic Semilight</vt:lpstr>
      <vt:lpstr>맑은 고딕</vt:lpstr>
      <vt:lpstr>현대산스 Head Bold</vt:lpstr>
      <vt:lpstr>현대하모니 B</vt:lpstr>
      <vt:lpstr>현대하모니 M</vt:lpstr>
      <vt:lpstr>Aptos</vt:lpstr>
      <vt:lpstr>Aptos Display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장소현 주식회사 현대드림투어</dc:creator>
  <cp:lastModifiedBy>양희건 선임</cp:lastModifiedBy>
  <cp:revision>8</cp:revision>
  <cp:lastPrinted>2026-05-07T05:29:42Z</cp:lastPrinted>
  <dcterms:created xsi:type="dcterms:W3CDTF">2026-05-07T05:23:13Z</dcterms:created>
  <dcterms:modified xsi:type="dcterms:W3CDTF">2026-05-21T02:16:50Z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MSIP_Label_c6d9a7a2-a2c9-479c-a560-d79de4b6971b_Enabled" pid="2">
    <vt:lpwstr>true</vt:lpwstr>
  </property>
  <property fmtid="{D5CDD505-2E9C-101B-9397-08002B2CF9AE}" name="MSIP_Label_c6d9a7a2-a2c9-479c-a560-d79de4b6971b_SetDate" pid="3">
    <vt:lpwstr>2026-05-07T05:30:49Z</vt:lpwstr>
  </property>
  <property fmtid="{D5CDD505-2E9C-101B-9397-08002B2CF9AE}" name="MSIP_Label_c6d9a7a2-a2c9-479c-a560-d79de4b6971b_Method" pid="4">
    <vt:lpwstr>Privileged</vt:lpwstr>
  </property>
  <property fmtid="{D5CDD505-2E9C-101B-9397-08002B2CF9AE}" name="MSIP_Label_c6d9a7a2-a2c9-479c-a560-d79de4b6971b_Name" pid="5">
    <vt:lpwstr>사외 정책</vt:lpwstr>
  </property>
  <property fmtid="{D5CDD505-2E9C-101B-9397-08002B2CF9AE}" name="MSIP_Label_c6d9a7a2-a2c9-479c-a560-d79de4b6971b_SiteId" pid="6">
    <vt:lpwstr>7cf932c0-bced-4490-b11f-48d23b1fe0d9</vt:lpwstr>
  </property>
  <property fmtid="{D5CDD505-2E9C-101B-9397-08002B2CF9AE}" name="MSIP_Label_c6d9a7a2-a2c9-479c-a560-d79de4b6971b_ActionId" pid="7">
    <vt:lpwstr>f9c0550f-a3bc-413e-b616-a4c843a8a288</vt:lpwstr>
  </property>
  <property fmtid="{D5CDD505-2E9C-101B-9397-08002B2CF9AE}" name="MSIP_Label_c6d9a7a2-a2c9-479c-a560-d79de4b6971b_ContentBits" pid="8">
    <vt:lpwstr>6</vt:lpwstr>
  </property>
  <property fmtid="{D5CDD505-2E9C-101B-9397-08002B2CF9AE}" name="MSIP_Label_c6d9a7a2-a2c9-479c-a560-d79de4b6971b_Tag" pid="9">
    <vt:lpwstr>10</vt:lpwstr>
  </property>
  <property fmtid="{D5CDD505-2E9C-101B-9397-08002B2CF9AE}" name="ClassificationContentMarkingFooterLocations" pid="10">
    <vt:lpwstr>Office 테마:10</vt:lpwstr>
  </property>
  <property fmtid="{D5CDD505-2E9C-101B-9397-08002B2CF9AE}" name="ClassificationContentMarkingFooterText" pid="11">
    <vt:lpwstr>장소현 주식회사 현대드림투어 / DT099715@mobis-partners.com / 본 문서는 현대모비스의 대외비 정보자산이므로 무단 전재 및 복제할 수 없으며</vt:lpwstr>
  </property>
  <property fmtid="{D5CDD505-2E9C-101B-9397-08002B2CF9AE}" name="ClassificationWatermarkLocations" pid="12">
    <vt:lpwstr>Office 테마:11</vt:lpwstr>
  </property>
  <property fmtid="{D5CDD505-2E9C-101B-9397-08002B2CF9AE}" name="ClassificationWatermarkText" pid="13">
    <vt:lpwstr>Hyundai Mobis Restricted</vt:lpwstr>
  </property>
  <property fmtid="{D5CDD505-2E9C-101B-9397-08002B2CF9AE}" name="Fasoo_Trace_ID" pid="14">
    <vt:lpwstr>eyAibm9kZUNvdW50IjogMywgIm5vZGUxIiA6IHsiZHNkIjoiMDEwMDAwMDAwMDAwMTg5NCIsImxvZ1RpbWUiOiIyMDI2LTA1LTE4VDA2OjIwOjA3WiIsInBJRCI6MSwicHJvY2Vzc0lkIjoxNDk4OCwicHJvY2Vzc05hbWUiOiJQT1dFUlBOVC5FWEUiLCJ0cmFjZUlkIjoiRDY1RDY2QUJEQzM0NEQ2Q0FGQTY2QjkxMzVFQ0UyN0IiLCJ1c2VyQ29kZSI6IjI1MDM3NTIifSwibm9kZTIiIDogeyJkc2QiOiIwMTAwMDAwMDAwMDAxODk0IiwibG9nVGltZSI6IjIwMjYtMDUtMThUMDY6MjA6MDdaIiwicElEIjoxLCJwcm9jZXNzSWQiOjE0OTg4LCJwcm9jZXNzTmFtZSI6IlBPV0VSUE5ULkVYRSIsInRyYWNlSWQiOiJENjVENjZBQkRDMzQ0RDZDQUZBNjZCOTEzNUVDRTI3QiIsInVzZXJDb2RlIjoiMjUwMzc1MiJ9LCJub2RlMyIgOiB7ImRzZCI6IjAxMDAwMDAwMDAwMDE4OTQiLCJsb2dUaW1lIjoiMjAyNi0wNS0xOFQwNjoyMDowN1oiLCJwSUQiOjEsInByb2Nlc3NJZCI6MTQ5ODgsInByb2Nlc3NOYW1lIjoiUE9XRVJQTlQuRVhFIiwidHJhY2VJZCI6IkQ2NUQ2NkFCREMzNDRENkNBRkE2NkI5MTM1RUNFMjdCIiwidXNlckNvZGUiOiIyNTAzNzUyIn0sIm5vZGU0IiA6IHsiZHNkIjoiMDEwMDAwMDAwMDAwMTg5NCIsImxvZ1RpbWUiOiIyMDI2LTA1LTIxVDAyOjEyOjQ4WiIsInBJRCI6MSwicHJvY2Vzc0lkIjo3MDI0LCJwcm9jZXNzTmFtZSI6IlBPV0VSUE5ULkVYRSIsInRyYWNlSWQiOiI1ODlEQTg0ODYyNDI0MDAzQjhDQ0JDQTJBMzI4MUEyRiIsInVzZXJDb2RlIjoiMjUwMzc1MiJ9LCJub2RlNSIgOiB7ICJ1c2VyQ29kZSIgOiAiMjUwMzc1MiIsICJ0cmFjZUlkIiA6ICJFQ0VGQkVBREQ4RTY4QzAyQzQzNkYxNjYyNUZDMjkwQyIsICJkc2QiIDogIjAwMDAwMDAwMDAwMDAwMDAiLCAicElEIiA6ICIyMDQ4IiwgImxvZ1RpbWUiIDogIjIwMjYtMDUtMjFUMDI6MTg6NTlaIiB9fQ==</vt:lpwstr>
  </property>
</Properties>
</file>