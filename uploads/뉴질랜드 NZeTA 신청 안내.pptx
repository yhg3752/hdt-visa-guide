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0" r:id="rId2"/>
    <p:sldId id="257" r:id="rId3"/>
    <p:sldId id="324" r:id="rId4"/>
    <p:sldId id="326" r:id="rId5"/>
    <p:sldId id="325" r:id="rId6"/>
    <p:sldId id="329" r:id="rId7"/>
    <p:sldId id="327" r:id="rId8"/>
    <p:sldId id="328" r:id="rId9"/>
    <p:sldId id="321" r:id="rId10"/>
    <p:sldId id="322" r:id="rId11"/>
    <p:sldId id="323" r:id="rId12"/>
  </p:sldIdLst>
  <p:sldSz cx="9144000" cy="6858000" type="screen4x3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2064" y="294"/>
      </p:cViewPr>
      <p:guideLst>
        <p:guide orient="horz" pos="1847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72125-27B8-4801-9D33-A1E5F205A71F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6995C-682B-4770-BDB5-2EE36E2B7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45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1pPr>
    <a:lvl2pPr marL="293202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2pPr>
    <a:lvl3pPr marL="586405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3pPr>
    <a:lvl4pPr marL="879607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4pPr>
    <a:lvl5pPr marL="1172809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5pPr>
    <a:lvl6pPr marL="1466012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6pPr>
    <a:lvl7pPr marL="1759214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7pPr>
    <a:lvl8pPr marL="2052417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8pPr>
    <a:lvl9pPr marL="2345619" algn="l" defTabSz="586405" rtl="0" eaLnBrk="1" latinLnBrk="1" hangingPunct="1">
      <a:defRPr sz="7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01725" y="1431925"/>
            <a:ext cx="5154613" cy="38671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1836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6376" y="2125980"/>
            <a:ext cx="77789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2753" y="3840480"/>
            <a:ext cx="64061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584" y="1577340"/>
            <a:ext cx="398098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13117" y="1577340"/>
            <a:ext cx="398098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34867" y="1916832"/>
            <a:ext cx="8043496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80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650955" y="5378180"/>
            <a:ext cx="1323469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2023.03.01</a:t>
            </a:r>
            <a:endParaRPr lang="ko-KR" altLang="en-US" dirty="0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659864" y="5718854"/>
            <a:ext cx="1631423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276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276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OO</a:t>
            </a:r>
            <a:r>
              <a:rPr lang="ko-KR" altLang="en-US" dirty="0"/>
              <a:t>부문 </a:t>
            </a:r>
            <a:r>
              <a:rPr lang="en-US" altLang="ko-KR" dirty="0"/>
              <a:t>OO</a:t>
            </a:r>
            <a:r>
              <a:rPr lang="ko-KR" altLang="en-US" dirty="0"/>
              <a:t>팀</a:t>
            </a:r>
          </a:p>
          <a:p>
            <a:pPr marL="0" marR="0" lvl="0" indent="0" algn="l" defTabSz="914276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659863" y="6087581"/>
            <a:ext cx="1785137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 dirty="0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17396" y="1386117"/>
            <a:ext cx="4918700" cy="430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B 28</a:t>
            </a:r>
            <a:endParaRPr lang="ko-KR" altLang="en-US" dirty="0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17396" y="1916834"/>
            <a:ext cx="4918700" cy="36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소제목 </a:t>
            </a:r>
            <a:r>
              <a:rPr lang="en-US" altLang="ko-KR" dirty="0"/>
              <a:t>/ </a:t>
            </a:r>
            <a:r>
              <a:rPr lang="ko-KR" altLang="en-US" dirty="0" err="1"/>
              <a:t>현대하모니</a:t>
            </a:r>
            <a:r>
              <a:rPr lang="en-US" altLang="ko-KR" dirty="0"/>
              <a:t>M 24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6F9ACA-4906-90D2-F90B-20B49727E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160" y="359629"/>
            <a:ext cx="2136829" cy="6001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DAE407-182F-6BA3-6F92-E057DE2D6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 b="-13221"/>
          <a:stretch>
            <a:fillRect/>
          </a:stretch>
        </p:blipFill>
        <p:spPr>
          <a:xfrm>
            <a:off x="-11576" y="6498382"/>
            <a:ext cx="9155579" cy="1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3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584" y="274320"/>
            <a:ext cx="823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584" y="1577340"/>
            <a:ext cx="823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11572" y="6377940"/>
            <a:ext cx="29285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584" y="6377940"/>
            <a:ext cx="210488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9214" y="6377940"/>
            <a:ext cx="210488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B35AA37B-0DD8-B084-13CD-7FBF40E0D6C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69080" y="692314"/>
            <a:ext cx="8405841" cy="1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93202">
        <a:defRPr>
          <a:latin typeface="+mn-lt"/>
          <a:ea typeface="+mn-ea"/>
          <a:cs typeface="+mn-cs"/>
        </a:defRPr>
      </a:lvl2pPr>
      <a:lvl3pPr marL="586405">
        <a:defRPr>
          <a:latin typeface="+mn-lt"/>
          <a:ea typeface="+mn-ea"/>
          <a:cs typeface="+mn-cs"/>
        </a:defRPr>
      </a:lvl3pPr>
      <a:lvl4pPr marL="879607">
        <a:defRPr>
          <a:latin typeface="+mn-lt"/>
          <a:ea typeface="+mn-ea"/>
          <a:cs typeface="+mn-cs"/>
        </a:defRPr>
      </a:lvl4pPr>
      <a:lvl5pPr marL="1172809">
        <a:defRPr>
          <a:latin typeface="+mn-lt"/>
          <a:ea typeface="+mn-ea"/>
          <a:cs typeface="+mn-cs"/>
        </a:defRPr>
      </a:lvl5pPr>
      <a:lvl6pPr marL="1466012">
        <a:defRPr>
          <a:latin typeface="+mn-lt"/>
          <a:ea typeface="+mn-ea"/>
          <a:cs typeface="+mn-cs"/>
        </a:defRPr>
      </a:lvl6pPr>
      <a:lvl7pPr marL="1759214">
        <a:defRPr>
          <a:latin typeface="+mn-lt"/>
          <a:ea typeface="+mn-ea"/>
          <a:cs typeface="+mn-cs"/>
        </a:defRPr>
      </a:lvl7pPr>
      <a:lvl8pPr marL="2052417">
        <a:defRPr>
          <a:latin typeface="+mn-lt"/>
          <a:ea typeface="+mn-ea"/>
          <a:cs typeface="+mn-cs"/>
        </a:defRPr>
      </a:lvl8pPr>
      <a:lvl9pPr marL="234561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93202">
        <a:defRPr>
          <a:latin typeface="+mn-lt"/>
          <a:ea typeface="+mn-ea"/>
          <a:cs typeface="+mn-cs"/>
        </a:defRPr>
      </a:lvl2pPr>
      <a:lvl3pPr marL="586405">
        <a:defRPr>
          <a:latin typeface="+mn-lt"/>
          <a:ea typeface="+mn-ea"/>
          <a:cs typeface="+mn-cs"/>
        </a:defRPr>
      </a:lvl3pPr>
      <a:lvl4pPr marL="879607">
        <a:defRPr>
          <a:latin typeface="+mn-lt"/>
          <a:ea typeface="+mn-ea"/>
          <a:cs typeface="+mn-cs"/>
        </a:defRPr>
      </a:lvl4pPr>
      <a:lvl5pPr marL="1172809">
        <a:defRPr>
          <a:latin typeface="+mn-lt"/>
          <a:ea typeface="+mn-ea"/>
          <a:cs typeface="+mn-cs"/>
        </a:defRPr>
      </a:lvl5pPr>
      <a:lvl6pPr marL="1466012">
        <a:defRPr>
          <a:latin typeface="+mn-lt"/>
          <a:ea typeface="+mn-ea"/>
          <a:cs typeface="+mn-cs"/>
        </a:defRPr>
      </a:lvl6pPr>
      <a:lvl7pPr marL="1759214">
        <a:defRPr>
          <a:latin typeface="+mn-lt"/>
          <a:ea typeface="+mn-ea"/>
          <a:cs typeface="+mn-cs"/>
        </a:defRPr>
      </a:lvl7pPr>
      <a:lvl8pPr marL="2052417">
        <a:defRPr>
          <a:latin typeface="+mn-lt"/>
          <a:ea typeface="+mn-ea"/>
          <a:cs typeface="+mn-cs"/>
        </a:defRPr>
      </a:lvl8pPr>
      <a:lvl9pPr marL="234561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4">
            <a:extLst>
              <a:ext uri="{FF2B5EF4-FFF2-40B4-BE49-F238E27FC236}">
                <a16:creationId xmlns:a16="http://schemas.microsoft.com/office/drawing/2014/main" id="{4B5C70A1-D4FE-D6E8-42CA-D7B514A1D249}"/>
              </a:ext>
            </a:extLst>
          </p:cNvPr>
          <p:cNvSpPr txBox="1">
            <a:spLocks/>
          </p:cNvSpPr>
          <p:nvPr/>
        </p:nvSpPr>
        <p:spPr>
          <a:xfrm>
            <a:off x="7775899" y="6611779"/>
            <a:ext cx="1368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spcBef>
                <a:spcPct val="0"/>
              </a:spcBef>
              <a:defRPr/>
            </a:pPr>
            <a:r>
              <a:rPr kumimoji="0" lang="en-US" altLang="ko-KR" sz="1000" dirty="0">
                <a:ln>
                  <a:noFill/>
                </a:ln>
                <a:solidFill>
                  <a:prstClr val="black"/>
                </a:solidFill>
              </a:rPr>
              <a:t>2026.05.21 </a:t>
            </a:r>
            <a:r>
              <a:rPr kumimoji="0" lang="ko-KR" altLang="en-US" sz="1000" dirty="0">
                <a:ln>
                  <a:noFill/>
                </a:ln>
                <a:solidFill>
                  <a:prstClr val="black"/>
                </a:solidFill>
              </a:rPr>
              <a:t>업데이트</a:t>
            </a:r>
            <a:endParaRPr kumimoji="0" lang="en-US" altLang="ko-KR" sz="1000" dirty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" name="텍스트 개체 틀 13">
            <a:extLst>
              <a:ext uri="{FF2B5EF4-FFF2-40B4-BE49-F238E27FC236}">
                <a16:creationId xmlns:a16="http://schemas.microsoft.com/office/drawing/2014/main" id="{3F848862-D730-B3CA-D325-6FE0141657D8}"/>
              </a:ext>
            </a:extLst>
          </p:cNvPr>
          <p:cNvSpPr txBox="1">
            <a:spLocks/>
          </p:cNvSpPr>
          <p:nvPr/>
        </p:nvSpPr>
        <p:spPr>
          <a:xfrm>
            <a:off x="503699" y="1393023"/>
            <a:ext cx="8424623" cy="480129"/>
          </a:xfrm>
          <a:prstGeom prst="rect">
            <a:avLst/>
          </a:prstGeom>
          <a:noFill/>
        </p:spPr>
        <p:txBody>
          <a:bodyPr vert="horz" wrap="square" lIns="91436" tIns="45719" rIns="91436" bIns="45719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뉴질랜드 </a:t>
            </a:r>
            <a:r>
              <a:rPr lang="en-US" altLang="ko-KR" b="1" dirty="0" err="1"/>
              <a:t>NZeTA</a:t>
            </a:r>
            <a:r>
              <a:rPr lang="en-US" altLang="ko-KR" b="1" dirty="0"/>
              <a:t> </a:t>
            </a:r>
            <a:r>
              <a:rPr lang="ko-KR" altLang="en-US" b="1" dirty="0"/>
              <a:t>신청 매뉴얼</a:t>
            </a: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id="{FE5FC1E4-A6ED-DB68-D090-219C41329996}"/>
              </a:ext>
            </a:extLst>
          </p:cNvPr>
          <p:cNvSpPr txBox="1">
            <a:spLocks/>
          </p:cNvSpPr>
          <p:nvPr/>
        </p:nvSpPr>
        <p:spPr>
          <a:xfrm>
            <a:off x="503699" y="1973820"/>
            <a:ext cx="8424623" cy="341630"/>
          </a:xfrm>
          <a:prstGeom prst="rect">
            <a:avLst/>
          </a:prstGeom>
          <a:noFill/>
        </p:spPr>
        <p:txBody>
          <a:bodyPr vert="horz" wrap="square" lIns="91436" tIns="45719" rIns="91436" bIns="45719" rtlCol="0">
            <a:spAutoFit/>
          </a:bodyPr>
          <a:lstStyle>
            <a:defPPr>
              <a:defRPr lang="en-US"/>
            </a:defPPr>
            <a:lvl1pPr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ln>
                  <a:solidFill>
                    <a:srgbClr val="000000">
                      <a:alpha val="0"/>
                    </a:srgbClr>
                  </a:solidFill>
                </a:ln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800" b="0" dirty="0"/>
              <a:t>New Zealand </a:t>
            </a:r>
            <a:r>
              <a:rPr lang="en-US" altLang="ko-KR" sz="1800" b="0" dirty="0" err="1"/>
              <a:t>NZeTA</a:t>
            </a:r>
            <a:r>
              <a:rPr lang="en-US" altLang="ko-KR" sz="1800" b="0" dirty="0"/>
              <a:t> Manual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098FB-4B51-85AE-F336-923AE472874C}"/>
              </a:ext>
            </a:extLst>
          </p:cNvPr>
          <p:cNvSpPr txBox="1"/>
          <p:nvPr/>
        </p:nvSpPr>
        <p:spPr>
          <a:xfrm>
            <a:off x="564713" y="2416159"/>
            <a:ext cx="4619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NZeTA</a:t>
            </a:r>
            <a:r>
              <a:rPr lang="en-US" altLang="ko-KR" dirty="0"/>
              <a:t> </a:t>
            </a:r>
            <a:r>
              <a:rPr lang="ko-KR" altLang="en-US" sz="1154" dirty="0"/>
              <a:t>어플 다운로드 후 진행</a:t>
            </a:r>
            <a:endParaRPr lang="en-US" altLang="ko-KR" sz="1154" dirty="0"/>
          </a:p>
        </p:txBody>
      </p:sp>
      <p:pic>
        <p:nvPicPr>
          <p:cNvPr id="4" name="object 13">
            <a:extLst>
              <a:ext uri="{FF2B5EF4-FFF2-40B4-BE49-F238E27FC236}">
                <a16:creationId xmlns:a16="http://schemas.microsoft.com/office/drawing/2014/main" id="{460ECBE1-6F0D-1A0A-A656-D355C888FF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2457090"/>
            <a:ext cx="338175" cy="328401"/>
          </a:xfrm>
          <a:prstGeom prst="rect">
            <a:avLst/>
          </a:prstGeom>
        </p:spPr>
      </p:pic>
      <p:sp>
        <p:nvSpPr>
          <p:cNvPr id="8" name="object 11">
            <a:extLst>
              <a:ext uri="{FF2B5EF4-FFF2-40B4-BE49-F238E27FC236}">
                <a16:creationId xmlns:a16="http://schemas.microsoft.com/office/drawing/2014/main" id="{AE4C3F6E-17CD-1274-A620-A82AB2E799FB}"/>
              </a:ext>
            </a:extLst>
          </p:cNvPr>
          <p:cNvSpPr txBox="1"/>
          <p:nvPr/>
        </p:nvSpPr>
        <p:spPr>
          <a:xfrm>
            <a:off x="2904527" y="2842381"/>
            <a:ext cx="625121" cy="87568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513" dirty="0">
                <a:solidFill>
                  <a:srgbClr val="0000FF"/>
                </a:solidFill>
                <a:latin typeface="맑은 고딕"/>
                <a:cs typeface="맑은 고딕"/>
              </a:rPr>
              <a:t>[App</a:t>
            </a:r>
            <a:r>
              <a:rPr sz="513" spc="-26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513" dirty="0">
                <a:solidFill>
                  <a:srgbClr val="0000FF"/>
                </a:solidFill>
                <a:latin typeface="맑은 고딕"/>
                <a:cs typeface="맑은 고딕"/>
              </a:rPr>
              <a:t>NZeTA</a:t>
            </a:r>
            <a:r>
              <a:rPr sz="513" spc="38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513" spc="-13" dirty="0">
                <a:solidFill>
                  <a:srgbClr val="0000FF"/>
                </a:solidFill>
                <a:latin typeface="맑은 고딕"/>
                <a:cs typeface="맑은 고딕"/>
              </a:rPr>
              <a:t>아이콘]</a:t>
            </a:r>
            <a:endParaRPr sz="513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8687" y="2451909"/>
            <a:ext cx="3429001" cy="624707"/>
          </a:xfrm>
          <a:prstGeom prst="rect">
            <a:avLst/>
          </a:prstGeom>
        </p:spPr>
        <p:txBody>
          <a:bodyPr vert="horz" wrap="square" lIns="0" tIns="59865" rIns="0" bIns="0" rtlCol="0">
            <a:spAutoFit/>
          </a:bodyPr>
          <a:lstStyle/>
          <a:p>
            <a:pPr marL="8145">
              <a:spcBef>
                <a:spcPts val="471"/>
              </a:spcBef>
            </a:pPr>
            <a:r>
              <a:rPr sz="1000" b="1" dirty="0">
                <a:latin typeface="맑은 고딕"/>
                <a:cs typeface="맑은 고딕"/>
              </a:rPr>
              <a:t>▶소요기간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dirty="0">
                <a:latin typeface="맑은 고딕"/>
                <a:cs typeface="맑은 고딕"/>
              </a:rPr>
              <a:t>및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spc="-16" dirty="0">
                <a:latin typeface="맑은 고딕"/>
                <a:cs typeface="맑은 고딕"/>
              </a:rPr>
              <a:t>비용</a:t>
            </a:r>
            <a:endParaRPr sz="1000" dirty="0">
              <a:latin typeface="맑은 고딕"/>
              <a:cs typeface="맑은 고딕"/>
            </a:endParaRPr>
          </a:p>
          <a:p>
            <a:pPr marL="194654" indent="-89182">
              <a:spcBef>
                <a:spcPts val="407"/>
              </a:spcBef>
              <a:buChar char="-"/>
              <a:tabLst>
                <a:tab pos="195061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신청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후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72시간이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spc="-6" dirty="0">
                <a:latin typeface="맑은 고딕"/>
                <a:cs typeface="맑은 고딕"/>
              </a:rPr>
              <a:t>소요됩니다.</a:t>
            </a:r>
            <a:endParaRPr sz="1000" dirty="0">
              <a:latin typeface="맑은 고딕"/>
              <a:cs typeface="맑은 고딕"/>
            </a:endParaRPr>
          </a:p>
          <a:p>
            <a:pPr marL="194654" indent="-89182">
              <a:spcBef>
                <a:spcPts val="407"/>
              </a:spcBef>
              <a:buChar char="-"/>
              <a:tabLst>
                <a:tab pos="195061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lang="ko-KR" altLang="en-US" sz="1000" dirty="0">
                <a:latin typeface="맑은 고딕"/>
                <a:cs typeface="맑은 고딕"/>
              </a:rPr>
              <a:t>비용</a:t>
            </a:r>
            <a:r>
              <a:rPr sz="1000" spc="10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: 117$</a:t>
            </a:r>
            <a:r>
              <a:rPr sz="1000" spc="-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NZD(*관광세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spc="-16" dirty="0" err="1">
                <a:latin typeface="맑은 고딕"/>
                <a:cs typeface="맑은 고딕"/>
              </a:rPr>
              <a:t>포함</a:t>
            </a:r>
            <a:r>
              <a:rPr sz="1000" spc="-16" dirty="0">
                <a:latin typeface="맑은 고딕"/>
                <a:cs typeface="맑은 고딕"/>
              </a:rPr>
              <a:t>)</a:t>
            </a:r>
            <a:endParaRPr sz="1000" dirty="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3233545"/>
            <a:ext cx="4038601" cy="1240260"/>
          </a:xfrm>
          <a:prstGeom prst="rect">
            <a:avLst/>
          </a:prstGeom>
        </p:spPr>
        <p:txBody>
          <a:bodyPr vert="horz" wrap="square" lIns="0" tIns="59865" rIns="0" bIns="0" rtlCol="0">
            <a:spAutoFit/>
          </a:bodyPr>
          <a:lstStyle/>
          <a:p>
            <a:pPr marL="8145">
              <a:spcBef>
                <a:spcPts val="471"/>
              </a:spcBef>
            </a:pPr>
            <a:r>
              <a:rPr sz="1000" b="1" spc="-6" dirty="0">
                <a:latin typeface="맑은 고딕"/>
                <a:cs typeface="맑은 고딕"/>
              </a:rPr>
              <a:t>▶구비서류</a:t>
            </a:r>
            <a:endParaRPr sz="1000" dirty="0">
              <a:latin typeface="맑은 고딕"/>
              <a:cs typeface="맑은 고딕"/>
            </a:endParaRPr>
          </a:p>
          <a:p>
            <a:pPr marL="173071" indent="-124611">
              <a:spcBef>
                <a:spcPts val="407"/>
              </a:spcBef>
              <a:buAutoNum type="arabicPeriod"/>
              <a:tabLst>
                <a:tab pos="173478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유효기간이</a:t>
            </a:r>
            <a:r>
              <a:rPr sz="1000" spc="10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최소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6개월</a:t>
            </a:r>
            <a:r>
              <a:rPr sz="1000" spc="10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이상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남아있는</a:t>
            </a:r>
            <a:r>
              <a:rPr sz="1000" spc="109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여권</a:t>
            </a:r>
            <a:endParaRPr sz="1000" dirty="0">
              <a:latin typeface="맑은 고딕"/>
              <a:cs typeface="맑은 고딕"/>
            </a:endParaRPr>
          </a:p>
          <a:p>
            <a:pPr marL="173071" indent="-124611">
              <a:spcBef>
                <a:spcPts val="407"/>
              </a:spcBef>
              <a:buAutoNum type="arabicPeriod"/>
              <a:tabLst>
                <a:tab pos="173478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이메일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spc="-16" dirty="0">
                <a:latin typeface="맑은 고딕"/>
                <a:cs typeface="맑은 고딕"/>
              </a:rPr>
              <a:t>주소</a:t>
            </a:r>
            <a:endParaRPr sz="1000" dirty="0">
              <a:latin typeface="맑은 고딕"/>
              <a:cs typeface="맑은 고딕"/>
            </a:endParaRPr>
          </a:p>
          <a:p>
            <a:pPr marL="173071" indent="-124611">
              <a:spcBef>
                <a:spcPts val="407"/>
              </a:spcBef>
              <a:buAutoNum type="arabicPeriod"/>
              <a:tabLst>
                <a:tab pos="173478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신용카드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또는</a:t>
            </a:r>
            <a:r>
              <a:rPr sz="1000" spc="10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체크카드(Visa,</a:t>
            </a:r>
            <a:r>
              <a:rPr sz="1000" spc="-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Mastercard</a:t>
            </a:r>
            <a:r>
              <a:rPr sz="1000" spc="-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or</a:t>
            </a:r>
            <a:r>
              <a:rPr sz="1000" spc="-6" dirty="0">
                <a:latin typeface="맑은 고딕"/>
                <a:cs typeface="맑은 고딕"/>
              </a:rPr>
              <a:t> Amex)</a:t>
            </a:r>
            <a:endParaRPr sz="1000" dirty="0">
              <a:latin typeface="맑은 고딕"/>
              <a:cs typeface="맑은 고딕"/>
            </a:endParaRPr>
          </a:p>
          <a:p>
            <a:pPr marL="173071" indent="-124611">
              <a:spcBef>
                <a:spcPts val="410"/>
              </a:spcBef>
              <a:buAutoNum type="arabicPeriod"/>
              <a:tabLst>
                <a:tab pos="173478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사진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또는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얼굴을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촬영할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수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있는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spc="-13" dirty="0" err="1">
                <a:latin typeface="맑은 고딕"/>
                <a:cs typeface="맑은 고딕"/>
              </a:rPr>
              <a:t>전자기기</a:t>
            </a:r>
            <a:endParaRPr lang="en-US" sz="1000" spc="-13" dirty="0">
              <a:latin typeface="맑은 고딕"/>
              <a:cs typeface="맑은 고딕"/>
            </a:endParaRPr>
          </a:p>
          <a:p>
            <a:pPr marL="48460">
              <a:spcBef>
                <a:spcPts val="410"/>
              </a:spcBef>
              <a:tabLst>
                <a:tab pos="173478" algn="l"/>
              </a:tabLst>
            </a:pPr>
            <a:r>
              <a:rPr lang="en-US" sz="1000" spc="-13" dirty="0">
                <a:latin typeface="맑은 고딕"/>
                <a:cs typeface="맑은 고딕"/>
              </a:rPr>
              <a:t>-</a:t>
            </a:r>
            <a:r>
              <a:rPr lang="en-US" sz="1000" dirty="0">
                <a:latin typeface="맑은 고딕"/>
                <a:cs typeface="맑은 고딕"/>
              </a:rPr>
              <a:t>  </a:t>
            </a:r>
            <a:r>
              <a:rPr sz="1000" dirty="0" err="1">
                <a:latin typeface="맑은 고딕"/>
                <a:cs typeface="맑은 고딕"/>
              </a:rPr>
              <a:t>핸드폰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카메라로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촬영</a:t>
            </a:r>
            <a:endParaRPr sz="1000" dirty="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4630734"/>
            <a:ext cx="7772401" cy="1707311"/>
          </a:xfrm>
          <a:prstGeom prst="rect">
            <a:avLst/>
          </a:prstGeom>
        </p:spPr>
        <p:txBody>
          <a:bodyPr vert="horz" wrap="square" lIns="0" tIns="59865" rIns="0" bIns="0" rtlCol="0">
            <a:spAutoFit/>
          </a:bodyPr>
          <a:lstStyle/>
          <a:p>
            <a:pPr marL="8145">
              <a:spcBef>
                <a:spcPts val="471"/>
              </a:spcBef>
            </a:pPr>
            <a:r>
              <a:rPr sz="1000" b="1" dirty="0">
                <a:latin typeface="맑은 고딕"/>
                <a:cs typeface="맑은 고딕"/>
              </a:rPr>
              <a:t>▶비자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dirty="0">
                <a:latin typeface="맑은 고딕"/>
                <a:cs typeface="맑은 고딕"/>
              </a:rPr>
              <a:t>승인여부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spc="-16" dirty="0">
                <a:latin typeface="맑은 고딕"/>
                <a:cs typeface="맑은 고딕"/>
              </a:rPr>
              <a:t>확인</a:t>
            </a:r>
            <a:endParaRPr sz="1000" dirty="0">
              <a:latin typeface="맑은 고딕"/>
              <a:cs typeface="맑은 고딕"/>
            </a:endParaRPr>
          </a:p>
          <a:p>
            <a:pPr marL="96920" indent="-89182">
              <a:spcBef>
                <a:spcPts val="407"/>
              </a:spcBef>
              <a:buChar char="-"/>
              <a:tabLst>
                <a:tab pos="97327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신청</a:t>
            </a:r>
            <a:r>
              <a:rPr sz="1000" spc="10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직후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pending으로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표시됩니다.</a:t>
            </a:r>
            <a:r>
              <a:rPr sz="1000" spc="115" dirty="0"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00FF"/>
                </a:solidFill>
                <a:latin typeface="맑은 고딕"/>
                <a:cs typeface="맑은 고딕"/>
              </a:rPr>
              <a:t>승인</a:t>
            </a:r>
            <a:r>
              <a:rPr sz="1000" spc="109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00FF"/>
                </a:solidFill>
                <a:latin typeface="맑은 고딕"/>
                <a:cs typeface="맑은 고딕"/>
              </a:rPr>
              <a:t>후</a:t>
            </a:r>
            <a:r>
              <a:rPr sz="1000" spc="112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00FF"/>
                </a:solidFill>
                <a:latin typeface="맑은 고딕"/>
                <a:cs typeface="맑은 고딕"/>
              </a:rPr>
              <a:t>issued로</a:t>
            </a:r>
            <a:r>
              <a:rPr sz="1000" spc="112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00FF"/>
                </a:solidFill>
                <a:latin typeface="맑은 고딕"/>
                <a:cs typeface="맑은 고딕"/>
              </a:rPr>
              <a:t>상태</a:t>
            </a:r>
            <a:r>
              <a:rPr sz="1000" spc="112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00FF"/>
                </a:solidFill>
                <a:latin typeface="맑은 고딕"/>
                <a:cs typeface="맑은 고딕"/>
              </a:rPr>
              <a:t>변경</a:t>
            </a:r>
            <a:r>
              <a:rPr sz="1000" spc="112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000" spc="-13" dirty="0">
                <a:solidFill>
                  <a:srgbClr val="0000FF"/>
                </a:solidFill>
                <a:latin typeface="맑은 고딕"/>
                <a:cs typeface="맑은 고딕"/>
              </a:rPr>
              <a:t>됩니다</a:t>
            </a:r>
            <a:r>
              <a:rPr sz="1000" spc="-13" dirty="0">
                <a:latin typeface="맑은 고딕"/>
                <a:cs typeface="맑은 고딕"/>
              </a:rPr>
              <a:t>.</a:t>
            </a:r>
            <a:endParaRPr sz="1000" dirty="0">
              <a:latin typeface="맑은 고딕"/>
              <a:cs typeface="맑은 고딕"/>
            </a:endParaRPr>
          </a:p>
          <a:p>
            <a:pPr marL="96920" indent="-89182">
              <a:spcBef>
                <a:spcPts val="407"/>
              </a:spcBef>
              <a:buChar char="-"/>
              <a:tabLst>
                <a:tab pos="97327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모바일앱</a:t>
            </a:r>
            <a:r>
              <a:rPr sz="1000" spc="9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:</a:t>
            </a:r>
            <a:r>
              <a:rPr sz="1000" spc="-1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NZeTA</a:t>
            </a:r>
            <a:r>
              <a:rPr sz="1000" spc="-1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Status에서</a:t>
            </a:r>
            <a:r>
              <a:rPr sz="1000" spc="9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확인</a:t>
            </a:r>
            <a:r>
              <a:rPr sz="1000" spc="93" dirty="0">
                <a:latin typeface="맑은 고딕"/>
                <a:cs typeface="맑은 고딕"/>
              </a:rPr>
              <a:t> </a:t>
            </a:r>
            <a:r>
              <a:rPr sz="1000" spc="-16" dirty="0">
                <a:latin typeface="맑은 고딕"/>
                <a:cs typeface="맑은 고딕"/>
              </a:rPr>
              <a:t>가능</a:t>
            </a:r>
            <a:endParaRPr sz="1000" dirty="0">
              <a:latin typeface="맑은 고딕"/>
              <a:cs typeface="맑은 고딕"/>
            </a:endParaRPr>
          </a:p>
          <a:p>
            <a:pPr marL="96920" indent="-89182">
              <a:spcBef>
                <a:spcPts val="407"/>
              </a:spcBef>
              <a:buChar char="-"/>
              <a:tabLst>
                <a:tab pos="97327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웹사이트</a:t>
            </a:r>
            <a:r>
              <a:rPr sz="1000" spc="9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:</a:t>
            </a:r>
            <a:r>
              <a:rPr sz="1000" spc="-1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Check</a:t>
            </a:r>
            <a:r>
              <a:rPr sz="1000" spc="-1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your</a:t>
            </a:r>
            <a:r>
              <a:rPr sz="1000" spc="-1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NZeTA</a:t>
            </a:r>
            <a:r>
              <a:rPr sz="1000" spc="-1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Status에서</a:t>
            </a:r>
            <a:r>
              <a:rPr sz="1000" spc="103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확인</a:t>
            </a:r>
            <a:r>
              <a:rPr sz="1000" spc="96" dirty="0">
                <a:latin typeface="맑은 고딕"/>
                <a:cs typeface="맑은 고딕"/>
              </a:rPr>
              <a:t> </a:t>
            </a:r>
            <a:r>
              <a:rPr sz="1000" spc="-16" dirty="0" err="1">
                <a:latin typeface="맑은 고딕"/>
                <a:cs typeface="맑은 고딕"/>
              </a:rPr>
              <a:t>가능</a:t>
            </a:r>
            <a:endParaRPr sz="1000" dirty="0">
              <a:latin typeface="맑은 고딕"/>
              <a:cs typeface="맑은 고딕"/>
            </a:endParaRPr>
          </a:p>
          <a:p>
            <a:pPr>
              <a:spcBef>
                <a:spcPts val="16"/>
              </a:spcBef>
              <a:buFont typeface=""/>
              <a:buChar char="-"/>
            </a:pPr>
            <a:endParaRPr lang="en-US" sz="1000" dirty="0">
              <a:latin typeface="맑은 고딕"/>
              <a:cs typeface="맑은 고딕"/>
            </a:endParaRPr>
          </a:p>
          <a:p>
            <a:pPr>
              <a:spcBef>
                <a:spcPts val="16"/>
              </a:spcBef>
              <a:buFont typeface=""/>
              <a:buChar char="-"/>
            </a:pPr>
            <a:endParaRPr sz="1000" dirty="0">
              <a:latin typeface="맑은 고딕"/>
              <a:cs typeface="맑은 고딕"/>
            </a:endParaRPr>
          </a:p>
          <a:p>
            <a:pPr marL="8145"/>
            <a:r>
              <a:rPr sz="1000" b="1" dirty="0">
                <a:latin typeface="맑은 고딕"/>
                <a:cs typeface="맑은 고딕"/>
              </a:rPr>
              <a:t>▶여권을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dirty="0">
                <a:latin typeface="맑은 고딕"/>
                <a:cs typeface="맑은 고딕"/>
              </a:rPr>
              <a:t>새로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dirty="0">
                <a:latin typeface="맑은 고딕"/>
                <a:cs typeface="맑은 고딕"/>
              </a:rPr>
              <a:t>발급받은</a:t>
            </a:r>
            <a:r>
              <a:rPr sz="1000" b="1" spc="112" dirty="0">
                <a:latin typeface="맑은 고딕"/>
                <a:cs typeface="맑은 고딕"/>
              </a:rPr>
              <a:t> </a:t>
            </a:r>
            <a:r>
              <a:rPr sz="1000" b="1" spc="-16" dirty="0">
                <a:latin typeface="맑은 고딕"/>
                <a:cs typeface="맑은 고딕"/>
              </a:rPr>
              <a:t>경우</a:t>
            </a:r>
            <a:endParaRPr sz="1000" dirty="0">
              <a:latin typeface="맑은 고딕"/>
              <a:cs typeface="맑은 고딕"/>
            </a:endParaRPr>
          </a:p>
          <a:p>
            <a:pPr marL="57012" marR="123389" indent="-48867">
              <a:lnSpc>
                <a:spcPct val="144200"/>
              </a:lnSpc>
              <a:buChar char="-"/>
              <a:tabLst>
                <a:tab pos="82667" algn="l"/>
              </a:tabLst>
            </a:pP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NZeTA</a:t>
            </a:r>
            <a:r>
              <a:rPr sz="1000" spc="9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홈페이지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접속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→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Update</a:t>
            </a:r>
            <a:r>
              <a:rPr sz="1000" spc="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your</a:t>
            </a:r>
            <a:r>
              <a:rPr sz="1000" spc="-1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NzeTA</a:t>
            </a:r>
            <a:r>
              <a:rPr sz="1000" spc="9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클릭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→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스크롤바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내려서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신규</a:t>
            </a:r>
            <a:r>
              <a:rPr sz="1000" spc="99" dirty="0">
                <a:latin typeface="맑은 고딕"/>
                <a:cs typeface="맑은 고딕"/>
              </a:rPr>
              <a:t> </a:t>
            </a:r>
            <a:r>
              <a:rPr sz="1000" spc="-16" dirty="0">
                <a:latin typeface="맑은 고딕"/>
                <a:cs typeface="맑은 고딕"/>
              </a:rPr>
              <a:t>여권 </a:t>
            </a:r>
            <a:r>
              <a:rPr sz="1000" dirty="0">
                <a:latin typeface="맑은 고딕"/>
                <a:cs typeface="맑은 고딕"/>
              </a:rPr>
              <a:t>정보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입력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→</a:t>
            </a:r>
            <a:r>
              <a:rPr sz="1000" spc="112" dirty="0">
                <a:latin typeface="맑은 고딕"/>
                <a:cs typeface="맑은 고딕"/>
              </a:rPr>
              <a:t> </a:t>
            </a:r>
            <a:r>
              <a:rPr sz="1000" spc="-16" dirty="0">
                <a:latin typeface="맑은 고딕"/>
                <a:cs typeface="맑은 고딕"/>
              </a:rPr>
              <a:t>제출</a:t>
            </a:r>
            <a:endParaRPr sz="1000" dirty="0">
              <a:latin typeface="맑은 고딕"/>
              <a:cs typeface="맑은 고딕"/>
            </a:endParaRPr>
          </a:p>
          <a:p>
            <a:pPr marL="105879" marR="3258" indent="-97734">
              <a:lnSpc>
                <a:spcPct val="144200"/>
              </a:lnSpc>
            </a:pPr>
            <a:r>
              <a:rPr sz="1000" dirty="0">
                <a:latin typeface="맑은 고딕"/>
                <a:cs typeface="맑은 고딕"/>
              </a:rPr>
              <a:t>※</a:t>
            </a:r>
            <a:r>
              <a:rPr lang="en-US" sz="1000" dirty="0">
                <a:latin typeface="맑은 고딕"/>
                <a:cs typeface="맑은 고딕"/>
              </a:rPr>
              <a:t> </a:t>
            </a:r>
            <a:r>
              <a:rPr sz="1000" dirty="0" err="1">
                <a:latin typeface="맑은 고딕"/>
                <a:cs typeface="맑은 고딕"/>
              </a:rPr>
              <a:t>이전</a:t>
            </a:r>
            <a:r>
              <a:rPr sz="1000" spc="103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여권으로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발급받은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NZeTA는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신규여권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정보를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업데이트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후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승인이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된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spc="-13" dirty="0">
                <a:latin typeface="맑은 고딕"/>
                <a:cs typeface="맑은 고딕"/>
              </a:rPr>
              <a:t>경우에만 </a:t>
            </a:r>
            <a:r>
              <a:rPr sz="1000" dirty="0">
                <a:latin typeface="맑은 고딕"/>
                <a:cs typeface="맑은 고딕"/>
              </a:rPr>
              <a:t>사용</a:t>
            </a:r>
            <a:r>
              <a:rPr sz="1000" spc="106" dirty="0">
                <a:latin typeface="맑은 고딕"/>
                <a:cs typeface="맑은 고딕"/>
              </a:rPr>
              <a:t> </a:t>
            </a:r>
            <a:r>
              <a:rPr sz="1000" spc="-6" dirty="0">
                <a:latin typeface="맑은 고딕"/>
                <a:cs typeface="맑은 고딕"/>
              </a:rPr>
              <a:t>가능합니다.</a:t>
            </a:r>
            <a:endParaRPr sz="1000" dirty="0">
              <a:latin typeface="맑은 고딕"/>
              <a:cs typeface="맑은 고딕"/>
            </a:endParaRPr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2C1097D8-664E-2565-CEB0-942900E2B01D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8687" y="990600"/>
            <a:ext cx="8153400" cy="1304380"/>
          </a:xfrm>
          <a:prstGeom prst="rect">
            <a:avLst/>
          </a:prstGeom>
        </p:spPr>
        <p:txBody>
          <a:bodyPr vert="horz" wrap="square" lIns="0" tIns="59865" rIns="0" bIns="0" rtlCol="0">
            <a:spAutoFit/>
          </a:bodyPr>
          <a:lstStyle>
            <a:defPPr>
              <a:defRPr kern="0"/>
            </a:defPPr>
            <a:lvl1pPr marL="8145">
              <a:spcBef>
                <a:spcPts val="471"/>
              </a:spcBef>
              <a:defRPr sz="1200" b="1">
                <a:latin typeface="맑은 고딕"/>
                <a:cs typeface="맑은 고딕"/>
              </a:defRPr>
            </a:lvl1pPr>
          </a:lstStyle>
          <a:p>
            <a:r>
              <a:rPr sz="1000" dirty="0"/>
              <a:t>▶뉴질랜드 NZeTA 관하여</a:t>
            </a:r>
          </a:p>
          <a:p>
            <a:pPr marL="179595" indent="-171450">
              <a:buFontTx/>
              <a:buChar char="-"/>
            </a:pPr>
            <a:r>
              <a:rPr sz="1000" b="0" dirty="0" err="1"/>
              <a:t>관광</a:t>
            </a:r>
            <a:r>
              <a:rPr sz="1000" b="0" dirty="0"/>
              <a:t>, 비즈니스, 경유 목적으로 발급받는 전자여행허가서 </a:t>
            </a:r>
            <a:r>
              <a:rPr sz="1000" b="0" dirty="0" err="1"/>
              <a:t>입니다</a:t>
            </a:r>
            <a:r>
              <a:rPr sz="1000" b="0" dirty="0"/>
              <a:t>.</a:t>
            </a:r>
          </a:p>
          <a:p>
            <a:pPr marL="179595" indent="-171450">
              <a:buFontTx/>
              <a:buChar char="-"/>
            </a:pPr>
            <a:r>
              <a:rPr sz="1000" b="0" dirty="0" err="1"/>
              <a:t>승인</a:t>
            </a:r>
            <a:r>
              <a:rPr sz="1000" b="0" dirty="0"/>
              <a:t> 후 2년간 유효하며 입국 시마다 최대 90일까지 체류할 수 </a:t>
            </a:r>
            <a:r>
              <a:rPr sz="1000" b="0" dirty="0" err="1"/>
              <a:t>있습니다</a:t>
            </a:r>
            <a:r>
              <a:rPr sz="1000" b="0" dirty="0"/>
              <a:t>.</a:t>
            </a:r>
          </a:p>
          <a:p>
            <a:pPr marL="179595" indent="-171450">
              <a:buFontTx/>
              <a:buChar char="-"/>
            </a:pPr>
            <a:r>
              <a:rPr sz="1000" b="0" dirty="0"/>
              <a:t>12개월 기간 중 최대 6개월까지만 체류할 수 있습니다. 누적체류수는 </a:t>
            </a:r>
            <a:r>
              <a:rPr sz="1000" b="0" dirty="0" err="1"/>
              <a:t>뉴질랜드</a:t>
            </a:r>
            <a:r>
              <a:rPr sz="1000" b="0" dirty="0"/>
              <a:t> </a:t>
            </a:r>
            <a:r>
              <a:rPr sz="1000" b="0" dirty="0" err="1"/>
              <a:t>출국할</a:t>
            </a:r>
            <a:r>
              <a:rPr sz="1000" b="0" dirty="0"/>
              <a:t> 예정인 날짜로부터 거꾸로 계산하면 </a:t>
            </a:r>
            <a:r>
              <a:rPr sz="1000" b="0" dirty="0" err="1"/>
              <a:t>됩니다</a:t>
            </a:r>
            <a:r>
              <a:rPr sz="1000" b="0" dirty="0"/>
              <a:t>.</a:t>
            </a:r>
          </a:p>
          <a:p>
            <a:pPr marL="179595" indent="-171450">
              <a:buFontTx/>
              <a:buChar char="-"/>
            </a:pPr>
            <a:r>
              <a:rPr lang="en-US" sz="1000" b="0" dirty="0" err="1"/>
              <a:t>NZeTA</a:t>
            </a:r>
            <a:r>
              <a:rPr sz="1000" b="0" dirty="0" err="1"/>
              <a:t>가</a:t>
            </a:r>
            <a:r>
              <a:rPr sz="1000" b="0" dirty="0"/>
              <a:t> 만료되기 전에 뉴질랜드를 떠나야 </a:t>
            </a:r>
            <a:r>
              <a:rPr sz="1000" b="0" dirty="0" err="1"/>
              <a:t>합니다</a:t>
            </a:r>
            <a:r>
              <a:rPr sz="1000" b="0" dirty="0"/>
              <a:t>.</a:t>
            </a:r>
          </a:p>
          <a:p>
            <a:r>
              <a:rPr lang="en-US" sz="1000" b="0" dirty="0"/>
              <a:t>- </a:t>
            </a:r>
            <a:r>
              <a:rPr sz="1000" b="0" dirty="0" err="1"/>
              <a:t>승인된</a:t>
            </a:r>
            <a:r>
              <a:rPr sz="1000" b="0" dirty="0"/>
              <a:t> NZeTA는 여권과 자동으로 연동됩니다. 만일의 상황에 대비해, 승인 </a:t>
            </a:r>
            <a:r>
              <a:rPr sz="1000" b="0" dirty="0" err="1"/>
              <a:t>화면을</a:t>
            </a:r>
            <a:r>
              <a:rPr sz="1000" b="0" dirty="0"/>
              <a:t> </a:t>
            </a:r>
            <a:r>
              <a:rPr sz="1000" b="0" dirty="0" err="1"/>
              <a:t>출력하거나</a:t>
            </a:r>
            <a:r>
              <a:rPr sz="1000" b="0" dirty="0"/>
              <a:t> 스마트폰에 저장해 두시는 것을 권장 드립니다.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C341E32E-27D6-B342-FBC7-701FE38D046F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3777B1-126D-AF78-D218-149EAEA83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70248"/>
            <a:ext cx="2132172" cy="3780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4D277D7-C8C8-15E7-9210-1060B018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1603"/>
          <a:stretch/>
        </p:blipFill>
        <p:spPr>
          <a:xfrm>
            <a:off x="5105400" y="1470248"/>
            <a:ext cx="2132172" cy="3780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A51D17E-CD57-D45B-1908-571F3BB15E3D}"/>
              </a:ext>
            </a:extLst>
          </p:cNvPr>
          <p:cNvSpPr/>
          <p:nvPr/>
        </p:nvSpPr>
        <p:spPr>
          <a:xfrm>
            <a:off x="523366" y="827623"/>
            <a:ext cx="2143634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</a:t>
            </a:r>
            <a:r>
              <a:rPr lang="en-US" altLang="ko-KR" sz="1600" b="1" dirty="0" err="1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NZeTA</a:t>
            </a:r>
            <a:r>
              <a:rPr lang="en-US" altLang="ko-KR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</a:t>
            </a:r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다운로드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5D4C283F-731F-22D3-933A-3997A436F0CA}"/>
              </a:ext>
            </a:extLst>
          </p:cNvPr>
          <p:cNvSpPr txBox="1">
            <a:spLocks/>
          </p:cNvSpPr>
          <p:nvPr/>
        </p:nvSpPr>
        <p:spPr>
          <a:xfrm>
            <a:off x="2417971" y="5554319"/>
            <a:ext cx="4433219" cy="571951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ko-KR" altLang="en-US" sz="1600" dirty="0"/>
              <a:t>플레이스토어 및 앱스토어에서 </a:t>
            </a:r>
            <a:r>
              <a:rPr lang="en-US" altLang="ko-KR" sz="1600" dirty="0" err="1"/>
              <a:t>NZeTA</a:t>
            </a:r>
            <a:r>
              <a:rPr lang="en-US" altLang="ko-KR" sz="1600" dirty="0"/>
              <a:t> </a:t>
            </a:r>
            <a:r>
              <a:rPr lang="ko-KR" altLang="en-US" sz="1600" dirty="0"/>
              <a:t>다운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en-US" altLang="ko-KR" sz="1600" dirty="0" err="1"/>
              <a:t>NZeTA</a:t>
            </a:r>
            <a:r>
              <a:rPr lang="en-US" altLang="ko-KR" sz="1600" dirty="0"/>
              <a:t> </a:t>
            </a:r>
            <a:r>
              <a:rPr lang="ko-KR" altLang="en-US" sz="1600" dirty="0"/>
              <a:t>앱 실행 및 </a:t>
            </a:r>
            <a:r>
              <a:rPr lang="en-US" altLang="ko-KR" sz="1600" dirty="0"/>
              <a:t>Begin </a:t>
            </a:r>
            <a:r>
              <a:rPr lang="ko-KR" altLang="en-US" sz="1600" dirty="0"/>
              <a:t>선택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7634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C341E32E-27D6-B342-FBC7-701FE38D046F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886EE0-84FA-59D7-9DEA-338968DFFE5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93" y="1539000"/>
            <a:ext cx="6480000" cy="3780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6513CCE-E394-6B5B-5E5E-0DD1DDE4FA7B}"/>
              </a:ext>
            </a:extLst>
          </p:cNvPr>
          <p:cNvSpPr/>
          <p:nvPr/>
        </p:nvSpPr>
        <p:spPr>
          <a:xfrm>
            <a:off x="523366" y="827623"/>
            <a:ext cx="1638145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여권 스캔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2BEAA755-6B3B-93AF-2C08-0CD9BDB2279D}"/>
              </a:ext>
            </a:extLst>
          </p:cNvPr>
          <p:cNvSpPr txBox="1">
            <a:spLocks/>
          </p:cNvSpPr>
          <p:nvPr/>
        </p:nvSpPr>
        <p:spPr>
          <a:xfrm>
            <a:off x="2376466" y="5562600"/>
            <a:ext cx="4516229" cy="856645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ko-KR" altLang="en-US" sz="1600" dirty="0"/>
              <a:t>카메라 접근 허용 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en-US" altLang="ko-KR" sz="1600" dirty="0"/>
              <a:t>Scan passport </a:t>
            </a:r>
            <a:r>
              <a:rPr lang="ko-KR" altLang="en-US" sz="1600" dirty="0"/>
              <a:t>선택 후 여권 스캔</a:t>
            </a:r>
            <a:endParaRPr lang="en-US" altLang="ko-KR" sz="1600" dirty="0"/>
          </a:p>
          <a:p>
            <a:pPr marL="90805" marR="144145">
              <a:spcBef>
                <a:spcPts val="320"/>
              </a:spcBef>
            </a:pPr>
            <a:r>
              <a:rPr lang="en-US" altLang="ko-KR" sz="1600" dirty="0"/>
              <a:t>- </a:t>
            </a:r>
            <a:r>
              <a:rPr lang="ko-KR" altLang="en-US" sz="1600" dirty="0"/>
              <a:t>화면 가이드 라인에 맞춰 여권 개인정보면 스캔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50349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C341E32E-27D6-B342-FBC7-701FE38D046F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11FC7A-C1D0-5CE4-A039-FABDC722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7188"/>
            <a:ext cx="4646158" cy="438195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F47D6D6-A0A3-2D6F-F3D0-1FE3D0BCDB40}"/>
              </a:ext>
            </a:extLst>
          </p:cNvPr>
          <p:cNvSpPr/>
          <p:nvPr/>
        </p:nvSpPr>
        <p:spPr>
          <a:xfrm>
            <a:off x="5791200" y="1586964"/>
            <a:ext cx="2879035" cy="2062103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※ </a:t>
            </a:r>
            <a:r>
              <a:rPr lang="ko-KR" altLang="en-US" sz="16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사진 촬영 시 안내 사항 </a:t>
            </a:r>
            <a:br>
              <a:rPr lang="en-US" altLang="ko-KR" sz="16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사물이나 사람 없는 깔끔한 </a:t>
            </a:r>
            <a:r>
              <a:rPr lang="ko-KR" altLang="en-US" sz="1400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뒷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배경</a:t>
            </a:r>
            <a:b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b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</a:br>
            <a: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그림자와 빛 반사가 없는 </a:t>
            </a:r>
            <a:r>
              <a:rPr lang="ko-KR" altLang="en-US" sz="1400" b="1" dirty="0" err="1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뒷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배경</a:t>
            </a:r>
            <a:endParaRPr lang="en-US" altLang="ko-KR" sz="1400" b="1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  <a:p>
            <a:endParaRPr lang="en-US" altLang="ko-KR" sz="1400" b="1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  <a:p>
            <a: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 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머리와 어깨 그리고 상체가 정면 응시</a:t>
            </a:r>
          </a:p>
          <a:p>
            <a:endParaRPr lang="en-US" altLang="ko-KR" sz="1400" dirty="0">
              <a:solidFill>
                <a:srgbClr val="C00000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  <a:p>
            <a:r>
              <a:rPr lang="en-US" altLang="ko-KR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-</a:t>
            </a:r>
            <a:r>
              <a:rPr lang="ko-KR" altLang="en-US" sz="1400" b="1" dirty="0">
                <a:solidFill>
                  <a:srgbClr val="C00000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 모자 안경 선글라스 착용 금지</a:t>
            </a:r>
          </a:p>
        </p:txBody>
      </p:sp>
      <p:sp>
        <p:nvSpPr>
          <p:cNvPr id="3" name="object 20">
            <a:extLst>
              <a:ext uri="{FF2B5EF4-FFF2-40B4-BE49-F238E27FC236}">
                <a16:creationId xmlns:a16="http://schemas.microsoft.com/office/drawing/2014/main" id="{D73AA604-7E0E-0E79-897C-FF95A4A75429}"/>
              </a:ext>
            </a:extLst>
          </p:cNvPr>
          <p:cNvSpPr txBox="1">
            <a:spLocks/>
          </p:cNvSpPr>
          <p:nvPr/>
        </p:nvSpPr>
        <p:spPr>
          <a:xfrm>
            <a:off x="2577181" y="5970151"/>
            <a:ext cx="4114800" cy="287258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Font typeface="+mj-lt"/>
              <a:buAutoNum type="arabicPeriod"/>
            </a:pPr>
            <a:r>
              <a:rPr lang="ko-KR" altLang="en-US" sz="1600" dirty="0"/>
              <a:t>사진 촬영 및 인식된 여권 정보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FEAB3C-1E04-B0A8-D59C-BDB8E4CEB7E1}"/>
              </a:ext>
            </a:extLst>
          </p:cNvPr>
          <p:cNvSpPr/>
          <p:nvPr/>
        </p:nvSpPr>
        <p:spPr>
          <a:xfrm>
            <a:off x="523366" y="827623"/>
            <a:ext cx="1638145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사진 촬영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59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2737D2BC-792A-CCC0-3C2F-9CF4A503153D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E2CD44-9001-4483-929D-7D018BC1E350}"/>
              </a:ext>
            </a:extLst>
          </p:cNvPr>
          <p:cNvSpPr/>
          <p:nvPr/>
        </p:nvSpPr>
        <p:spPr>
          <a:xfrm>
            <a:off x="523366" y="838200"/>
            <a:ext cx="1638145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질의응답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4" name="object 20">
            <a:extLst>
              <a:ext uri="{FF2B5EF4-FFF2-40B4-BE49-F238E27FC236}">
                <a16:creationId xmlns:a16="http://schemas.microsoft.com/office/drawing/2014/main" id="{ADA94BAB-F0EC-94A8-6C83-7CD538107015}"/>
              </a:ext>
            </a:extLst>
          </p:cNvPr>
          <p:cNvSpPr txBox="1">
            <a:spLocks/>
          </p:cNvSpPr>
          <p:nvPr/>
        </p:nvSpPr>
        <p:spPr>
          <a:xfrm>
            <a:off x="2577181" y="5486400"/>
            <a:ext cx="4114800" cy="1141338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ko-KR" altLang="en-US" sz="1600" dirty="0"/>
              <a:t>환승</a:t>
            </a:r>
            <a:r>
              <a:rPr lang="en-US" altLang="ko-KR" sz="1600" dirty="0"/>
              <a:t>(Transit) </a:t>
            </a:r>
            <a:r>
              <a:rPr lang="ko-KR" altLang="en-US" sz="1600" dirty="0"/>
              <a:t>또는 방문</a:t>
            </a:r>
            <a:r>
              <a:rPr lang="en-US" altLang="ko-KR" sz="1600" dirty="0"/>
              <a:t>(Visit)</a:t>
            </a:r>
            <a:r>
              <a:rPr lang="ko-KR" altLang="en-US" sz="1600" dirty="0"/>
              <a:t> 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ko-KR" altLang="en-US" sz="1600" dirty="0"/>
              <a:t>호주 영주권자 질문</a:t>
            </a:r>
            <a:r>
              <a:rPr lang="en-US" altLang="ko-KR" sz="1600" dirty="0"/>
              <a:t> No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AutoNum type="arabicPeriod"/>
            </a:pPr>
            <a:r>
              <a:rPr lang="ko-KR" altLang="en-US" sz="1600" dirty="0"/>
              <a:t>유죄 판결 질문 </a:t>
            </a:r>
            <a:r>
              <a:rPr lang="en-US" altLang="ko-KR" sz="1600" dirty="0"/>
              <a:t>No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Tx/>
              <a:buAutoNum type="arabicPeriod"/>
            </a:pPr>
            <a:r>
              <a:rPr lang="ko-KR" altLang="en-US" sz="1600" dirty="0"/>
              <a:t>과거 뉴질랜드 입국 금지 여부 </a:t>
            </a:r>
            <a:r>
              <a:rPr lang="en-US" altLang="ko-KR" sz="1600" dirty="0"/>
              <a:t>No </a:t>
            </a:r>
            <a:r>
              <a:rPr lang="ko-KR" altLang="en-US" sz="1600" dirty="0"/>
              <a:t>선택</a:t>
            </a:r>
            <a:endParaRPr lang="en-US" altLang="ko-KR" sz="16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47936E-A506-4F1A-4A85-4C07B0AA6FE5}"/>
              </a:ext>
            </a:extLst>
          </p:cNvPr>
          <p:cNvGrpSpPr/>
          <p:nvPr/>
        </p:nvGrpSpPr>
        <p:grpSpPr>
          <a:xfrm>
            <a:off x="610356" y="1535754"/>
            <a:ext cx="7923288" cy="3786492"/>
            <a:chOff x="458712" y="1535754"/>
            <a:chExt cx="7923288" cy="3786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3A101F2-98D0-AB60-A594-AD3841C49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8712" y="1535754"/>
              <a:ext cx="5972594" cy="378649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6D66C3-AD4B-6F73-258B-01788011499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rcRect r="66655"/>
            <a:stretch/>
          </p:blipFill>
          <p:spPr>
            <a:xfrm>
              <a:off x="6384000" y="1535754"/>
              <a:ext cx="1998000" cy="37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46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C341E32E-27D6-B342-FBC7-701FE38D046F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8D643A-9506-4260-684E-47110C0565B7}"/>
              </a:ext>
            </a:extLst>
          </p:cNvPr>
          <p:cNvGrpSpPr/>
          <p:nvPr/>
        </p:nvGrpSpPr>
        <p:grpSpPr>
          <a:xfrm>
            <a:off x="612000" y="1539000"/>
            <a:ext cx="7920000" cy="3780000"/>
            <a:chOff x="2107637" y="1513360"/>
            <a:chExt cx="6945448" cy="331500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224CA31-6972-EE03-E1AA-5AD24DD65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559" r="1"/>
            <a:stretch/>
          </p:blipFill>
          <p:spPr>
            <a:xfrm>
              <a:off x="2107637" y="1513361"/>
              <a:ext cx="3492176" cy="331500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9F8E8C0-22C8-F437-FBD7-0C2E1E410B3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4449" y="1513360"/>
              <a:ext cx="1692000" cy="33120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24F7311-7BA7-3873-EB7A-C2BE2009A68F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61085" y="1513360"/>
              <a:ext cx="1692000" cy="3312000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6C9D53-BEE4-7A89-FB9D-696AA68C1288}"/>
              </a:ext>
            </a:extLst>
          </p:cNvPr>
          <p:cNvSpPr/>
          <p:nvPr/>
        </p:nvSpPr>
        <p:spPr>
          <a:xfrm>
            <a:off x="523366" y="838200"/>
            <a:ext cx="1638145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질의응답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DF25B97B-C9AF-E55C-0581-26FC20905130}"/>
              </a:ext>
            </a:extLst>
          </p:cNvPr>
          <p:cNvSpPr txBox="1">
            <a:spLocks/>
          </p:cNvSpPr>
          <p:nvPr/>
        </p:nvSpPr>
        <p:spPr>
          <a:xfrm>
            <a:off x="2577181" y="5486400"/>
            <a:ext cx="4114800" cy="1141338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Font typeface="+mj-lt"/>
              <a:buAutoNum type="arabicPeriod" startAt="5"/>
            </a:pPr>
            <a:r>
              <a:rPr lang="ko-KR" altLang="en-US" sz="1600" dirty="0"/>
              <a:t>타 국가 추방 이력 여부 질문</a:t>
            </a:r>
            <a:r>
              <a:rPr lang="en-US" altLang="ko-KR" sz="1600" dirty="0"/>
              <a:t> No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 startAt="5"/>
            </a:pPr>
            <a:r>
              <a:rPr lang="ko-KR" altLang="en-US" sz="1600" dirty="0"/>
              <a:t>의료 목적 여부 질문 </a:t>
            </a:r>
            <a:r>
              <a:rPr lang="en-US" altLang="ko-KR" sz="1600" dirty="0"/>
              <a:t>No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 startAt="5"/>
            </a:pPr>
            <a:r>
              <a:rPr lang="ko-KR" altLang="en-US" sz="1600" dirty="0"/>
              <a:t>국가 </a:t>
            </a:r>
            <a:r>
              <a:rPr lang="en-US" altLang="ko-KR" sz="1600" dirty="0"/>
              <a:t>Korea,</a:t>
            </a:r>
            <a:r>
              <a:rPr lang="ko-KR" altLang="en-US" sz="1600" dirty="0"/>
              <a:t> </a:t>
            </a:r>
            <a:r>
              <a:rPr lang="en-US" altLang="ko-KR" sz="1600" dirty="0"/>
              <a:t>Republic</a:t>
            </a:r>
            <a:r>
              <a:rPr lang="ko-KR" altLang="en-US" sz="1600" dirty="0"/>
              <a:t> </a:t>
            </a:r>
            <a:r>
              <a:rPr lang="en-US" altLang="ko-KR" sz="1600" dirty="0"/>
              <a:t>of</a:t>
            </a:r>
            <a:r>
              <a:rPr lang="ko-KR" altLang="en-US" sz="1600" dirty="0"/>
              <a:t> 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 startAt="5"/>
            </a:pPr>
            <a:r>
              <a:rPr lang="ko-KR" altLang="en-US" sz="1600" dirty="0"/>
              <a:t>이메일 입력</a:t>
            </a:r>
            <a:endParaRPr lang="en-US" altLang="ko-KR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9C9583-63D0-F1F7-C14A-1BECF3B95D37}"/>
              </a:ext>
            </a:extLst>
          </p:cNvPr>
          <p:cNvSpPr/>
          <p:nvPr/>
        </p:nvSpPr>
        <p:spPr>
          <a:xfrm>
            <a:off x="6691981" y="4495800"/>
            <a:ext cx="17526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43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C341E32E-27D6-B342-FBC7-701FE38D046F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05C45D-DA1E-456E-6160-D406BE4C7C37}"/>
              </a:ext>
            </a:extLst>
          </p:cNvPr>
          <p:cNvGrpSpPr/>
          <p:nvPr/>
        </p:nvGrpSpPr>
        <p:grpSpPr>
          <a:xfrm>
            <a:off x="612000" y="1524000"/>
            <a:ext cx="7920000" cy="3780000"/>
            <a:chOff x="-381000" y="1143000"/>
            <a:chExt cx="10249599" cy="4860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21BD9C-39CE-CF64-CEFA-F66BF677B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81000" y="1143000"/>
              <a:ext cx="5106797" cy="485820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4605607-7FC7-805F-9013-8FB2F1E01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" t="5634" r="1846"/>
            <a:stretch/>
          </p:blipFill>
          <p:spPr>
            <a:xfrm>
              <a:off x="4725797" y="1143000"/>
              <a:ext cx="2553399" cy="4858204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633D1CB-E013-B07B-F386-B09785393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0" y="1143000"/>
              <a:ext cx="2553399" cy="4860000"/>
            </a:xfrm>
            <a:prstGeom prst="rect">
              <a:avLst/>
            </a:prstGeom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4436B1-B5A9-19D6-E488-10E513EA84C4}"/>
              </a:ext>
            </a:extLst>
          </p:cNvPr>
          <p:cNvSpPr/>
          <p:nvPr/>
        </p:nvSpPr>
        <p:spPr>
          <a:xfrm>
            <a:off x="523366" y="838200"/>
            <a:ext cx="2143634" cy="33855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002C5F"/>
                </a:solidFill>
                <a:latin typeface="현대산스 Text" panose="020B0600000101010101" pitchFamily="50" charset="-127"/>
                <a:ea typeface="현대산스 Text" panose="020B0600000101010101" pitchFamily="50" charset="-127"/>
              </a:rPr>
              <a:t>→ 결제 및 상태 확인 단계</a:t>
            </a:r>
            <a:endParaRPr lang="ko-KR" altLang="en-US" sz="1600" dirty="0">
              <a:solidFill>
                <a:srgbClr val="002C5F"/>
              </a:solidFill>
              <a:latin typeface="현대산스 Text" panose="020B0600000101010101" pitchFamily="50" charset="-127"/>
              <a:ea typeface="현대산스 Text" panose="020B0600000101010101" pitchFamily="50" charset="-127"/>
            </a:endParaRPr>
          </a:p>
        </p:txBody>
      </p:sp>
      <p:sp>
        <p:nvSpPr>
          <p:cNvPr id="5" name="object 20">
            <a:extLst>
              <a:ext uri="{FF2B5EF4-FFF2-40B4-BE49-F238E27FC236}">
                <a16:creationId xmlns:a16="http://schemas.microsoft.com/office/drawing/2014/main" id="{DB05235F-49E7-F0E0-9372-AC048A0EB2F9}"/>
              </a:ext>
            </a:extLst>
          </p:cNvPr>
          <p:cNvSpPr txBox="1">
            <a:spLocks/>
          </p:cNvSpPr>
          <p:nvPr/>
        </p:nvSpPr>
        <p:spPr>
          <a:xfrm>
            <a:off x="1694071" y="5488062"/>
            <a:ext cx="5881020" cy="1141338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433705" marR="144145" indent="-342900">
              <a:spcBef>
                <a:spcPts val="320"/>
              </a:spcBef>
              <a:buFont typeface="+mj-lt"/>
              <a:buAutoNum type="arabicPeriod"/>
            </a:pPr>
            <a:r>
              <a:rPr lang="ko-KR" altLang="en-US" sz="1600" dirty="0"/>
              <a:t>결제 비용 확인 및 </a:t>
            </a:r>
            <a:r>
              <a:rPr lang="en-US" altLang="ko-KR" sz="1600" dirty="0"/>
              <a:t>Agree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/>
            </a:pPr>
            <a:r>
              <a:rPr lang="ko-KR" altLang="en-US" sz="1600" dirty="0"/>
              <a:t>카드 소유자명</a:t>
            </a:r>
            <a:r>
              <a:rPr lang="en-US" altLang="ko-KR" sz="1600" dirty="0"/>
              <a:t>, </a:t>
            </a:r>
            <a:r>
              <a:rPr lang="ko-KR" altLang="en-US" sz="1600" dirty="0"/>
              <a:t>카드번호</a:t>
            </a:r>
            <a:r>
              <a:rPr lang="en-US" altLang="ko-KR" sz="1600" dirty="0"/>
              <a:t>, </a:t>
            </a:r>
            <a:r>
              <a:rPr lang="ko-KR" altLang="en-US" sz="1600" dirty="0"/>
              <a:t>만료일자</a:t>
            </a:r>
            <a:r>
              <a:rPr lang="en-US" altLang="ko-KR" sz="1600" dirty="0"/>
              <a:t>, CVC </a:t>
            </a:r>
            <a:r>
              <a:rPr lang="ko-KR" altLang="en-US" sz="1600" dirty="0"/>
              <a:t>번호 작성 및 결제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/>
            </a:pPr>
            <a:r>
              <a:rPr lang="ko-KR" altLang="en-US" sz="1600" dirty="0"/>
              <a:t>결제 영수증 확인</a:t>
            </a:r>
            <a:endParaRPr lang="en-US" altLang="ko-KR" sz="1600" dirty="0"/>
          </a:p>
          <a:p>
            <a:pPr marL="433705" marR="144145" indent="-342900">
              <a:spcBef>
                <a:spcPts val="320"/>
              </a:spcBef>
              <a:buFont typeface="+mj-lt"/>
              <a:buAutoNum type="arabicPeriod"/>
            </a:pPr>
            <a:r>
              <a:rPr lang="en-US" altLang="ko-KR" sz="1600" dirty="0" err="1"/>
              <a:t>NZeTA</a:t>
            </a:r>
            <a:r>
              <a:rPr lang="en-US" altLang="ko-KR" sz="1600" dirty="0"/>
              <a:t> </a:t>
            </a:r>
            <a:r>
              <a:rPr lang="ko-KR" altLang="en-US" sz="1600" dirty="0"/>
              <a:t>진행 상태 확인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17610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FE82E7-566D-D892-10BB-51ACF44EE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000" y="990600"/>
            <a:ext cx="5400000" cy="5400000"/>
          </a:xfrm>
          <a:prstGeom prst="rect">
            <a:avLst/>
          </a:prstGeom>
        </p:spPr>
      </p:pic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54336B45-39D4-6560-912D-3694A2701C88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234182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C328F28-AC24-7CA8-3751-B5B4FAB9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000" y="990600"/>
            <a:ext cx="540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151D1D0-10B3-8A06-E746-241C1B829C64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82057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BCCAEC9-4989-0F8E-7900-994C36AB7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000" y="990600"/>
            <a:ext cx="540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F0012630-D20C-19A8-A870-980D46245567}"/>
              </a:ext>
            </a:extLst>
          </p:cNvPr>
          <p:cNvSpPr txBox="1">
            <a:spLocks/>
          </p:cNvSpPr>
          <p:nvPr/>
        </p:nvSpPr>
        <p:spPr>
          <a:xfrm>
            <a:off x="321394" y="294739"/>
            <a:ext cx="4313187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93202">
              <a:defRPr>
                <a:latin typeface="+mn-lt"/>
                <a:ea typeface="+mn-ea"/>
                <a:cs typeface="+mn-cs"/>
              </a:defRPr>
            </a:lvl2pPr>
            <a:lvl3pPr marL="586405">
              <a:defRPr>
                <a:latin typeface="+mn-lt"/>
                <a:ea typeface="+mn-ea"/>
                <a:cs typeface="+mn-cs"/>
              </a:defRPr>
            </a:lvl3pPr>
            <a:lvl4pPr marL="879607">
              <a:defRPr>
                <a:latin typeface="+mn-lt"/>
                <a:ea typeface="+mn-ea"/>
                <a:cs typeface="+mn-cs"/>
              </a:defRPr>
            </a:lvl4pPr>
            <a:lvl5pPr marL="1172809">
              <a:defRPr>
                <a:latin typeface="+mn-lt"/>
                <a:ea typeface="+mn-ea"/>
                <a:cs typeface="+mn-cs"/>
              </a:defRPr>
            </a:lvl5pPr>
            <a:lvl6pPr marL="1466012">
              <a:defRPr>
                <a:latin typeface="+mn-lt"/>
                <a:ea typeface="+mn-ea"/>
                <a:cs typeface="+mn-cs"/>
              </a:defRPr>
            </a:lvl6pPr>
            <a:lvl7pPr marL="1759214">
              <a:defRPr>
                <a:latin typeface="+mn-lt"/>
                <a:ea typeface="+mn-ea"/>
                <a:cs typeface="+mn-cs"/>
              </a:defRPr>
            </a:lvl7pPr>
            <a:lvl8pPr marL="2052417">
              <a:defRPr>
                <a:latin typeface="+mn-lt"/>
                <a:ea typeface="+mn-ea"/>
                <a:cs typeface="+mn-cs"/>
              </a:defRPr>
            </a:lvl8pPr>
            <a:lvl9pPr marL="234561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+mj-lt"/>
                <a:ea typeface="Arial Unicode MS" panose="020B0604020202020204" pitchFamily="50" charset="-127"/>
                <a:cs typeface="Arial Unicode MS" panose="020B0604020202020204" pitchFamily="50" charset="-127"/>
              </a:rPr>
              <a:t>●</a:t>
            </a:r>
            <a:r>
              <a:rPr lang="ko-KR" altLang="en-US" b="1" dirty="0">
                <a:latin typeface="+mj-lt"/>
                <a:ea typeface="맑은 고딕" panose="020B05030200000200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뉴질랜드 </a:t>
            </a:r>
            <a:r>
              <a:rPr lang="en-US" altLang="ko-KR" b="1" dirty="0" err="1">
                <a:latin typeface="+mj-ea"/>
                <a:ea typeface="+mj-ea"/>
                <a:cs typeface="Malgun Gothic Semilight" panose="020B0502040204020203" pitchFamily="50" charset="-127"/>
              </a:rPr>
              <a:t>NZeTA</a:t>
            </a:r>
            <a:r>
              <a:rPr lang="en-US" altLang="ko-KR" b="1" dirty="0">
                <a:latin typeface="+mj-ea"/>
                <a:ea typeface="+mj-ea"/>
                <a:cs typeface="Malgun Gothic Semilight" panose="020B0502040204020203" pitchFamily="50" charset="-127"/>
              </a:rPr>
              <a:t> </a:t>
            </a:r>
            <a:r>
              <a:rPr lang="ko-KR" altLang="en-US" b="1" dirty="0">
                <a:latin typeface="+mj-ea"/>
                <a:ea typeface="+mj-ea"/>
                <a:cs typeface="Malgun Gothic Semilight" panose="020B0502040204020203" pitchFamily="50" charset="-127"/>
              </a:rPr>
              <a:t>신청 매뉴얼</a:t>
            </a:r>
          </a:p>
        </p:txBody>
      </p:sp>
    </p:spTree>
    <p:extLst>
      <p:ext uri="{BB962C8B-B14F-4D97-AF65-F5344CB8AC3E}">
        <p14:creationId xmlns:p14="http://schemas.microsoft.com/office/powerpoint/2010/main" val="327223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</TotalTime>
  <Words>453</Words>
  <Application>Microsoft Office PowerPoint</Application>
  <PresentationFormat>화면 슬라이드 쇼(4:3)</PresentationFormat>
  <Paragraphs>69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Malgun Gothic Semilight</vt:lpstr>
      <vt:lpstr>맑은 고딕</vt:lpstr>
      <vt:lpstr>현대산스 Text</vt:lpstr>
      <vt:lpstr>현대하모니 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tÈœÜ NZeTA à? H´</dc:title>
  <cp:lastModifiedBy>양희건 선임</cp:lastModifiedBy>
  <cp:revision>8</cp:revision>
  <dcterms:created xsi:type="dcterms:W3CDTF">2026-05-18T06:22:02Z</dcterms:created>
  <dcterms:modified xsi:type="dcterms:W3CDTF">2026-05-21T02:16:48Z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reated" pid="2">
    <vt:filetime>2025-07-15T00:00:00Z</vt:filetime>
  </property>
  <property fmtid="{D5CDD505-2E9C-101B-9397-08002B2CF9AE}" name="LastSaved" pid="3">
    <vt:filetime>2026-05-18T00:00:00Z</vt:filetime>
  </property>
  <property fmtid="{D5CDD505-2E9C-101B-9397-08002B2CF9AE}" name="Producer" pid="4">
    <vt:lpwstr>Microsoft: Print To PDF</vt:lpwstr>
  </property>
  <property fmtid="{D5CDD505-2E9C-101B-9397-08002B2CF9AE}" name="Fasoo_Trace_ID" pid="5">
    <vt:lpwstr>eyAibm9kZUNvdW50IjogNSwgIm5vZGUxIiA6IHsiZHNkIjoiMDEwMDAwMDAwMDAwMTg5NCIsImxvZ1RpbWUiOiIyMDI2LTA1LTE4VDA2OjIzOjA1WiIsInBJRCI6MSwicHJvY2Vzc0lkIjoxNDk4OCwicHJvY2Vzc05hbWUiOiJQT1dFUlBOVC5FWEUiLCJ0cmFjZUlkIjoiMTREM0I4M0M1Nzg0NEUyNkEyMThDREIxQjAwMjJDM0IiLCJ1c2VyQ29kZSI6IjI1MDM3NTIifSwibm9kZTIiIDogeyJkc2QiOiIwMTAwMDAwMDAwMDAxODk0IiwibG9nVGltZSI6IjIwMjYtMDUtMThUMjM6MTE6MzhaIiwicElEIjoxLCJwcm9jZXNzSWQiOjE0OTg4LCJwcm9jZXNzTmFtZSI6IlBPV0VSUE5ULkVYRSIsInRyYWNlSWQiOiJBQjA2MEYwRjQ5RjI0NTM0QkJDRTQ4MTM0NDg3QkRBNiIsInVzZXJDb2RlIjoiMjUwMzc1MiJ9LCJub2RlMyIgOiB7ImRzZCI6IjAxMDAwMDAwMDAwMDE4OTQiLCJsb2dUaW1lIjoiMjAyNi0wNS0yMFQyMjo1ODoyMVoiLCJwSUQiOjEsInByb2Nlc3NJZCI6MTQ5ODgsInByb2Nlc3NOYW1lIjoiUE9XRVJQTlQuRVhFIiwidHJhY2VJZCI6IjUwQzZENzlFMDk2QTQxMEJCQTEwRUQzMjQ4NzE3RjdGIiwidXNlckNvZGUiOiIyNTAzNzUyIn0sIm5vZGU0IiA6IHsiZHNkIjoiMDEwMDAwMDAwMDAwMTg5NCIsImxvZ1RpbWUiOiIyMDI2LTA1LTIxVDAyOjEyOjQ3WiIsInBJRCI6MSwicHJvY2Vzc0lkIjo3MDI0LCJwcm9jZXNzTmFtZSI6IlBPV0VSUE5ULkVYRSIsInRyYWNlSWQiOiJEOEY1REQyRjVFNDE0Q0ZCODhCMzRGM0NGNDEwMzg2NyIsInVzZXJDb2RlIjoiMjUwMzc1MiJ9LCJub2RlNSIgOiB7ICJ1c2VyQ29kZSIgOiAiMjUwMzc1MiIsICJ0cmFjZUlkIiA6ICI5QjIyRTkyMjVCQzc1NEFENTJCQjE5NzM4QUY4OEYyQSIsICJkc2QiIDogIjAwMDAwMDAwMDAwMDAwMDAiLCAicElEIiA6ICIyMDQ4IiwgImxvZ1RpbWUiIDogIjIwMjYtMDUtMjFUMDI6MTg6NDRaIiB9fQ==</vt:lpwstr>
  </property>
</Properties>
</file>